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1000"/>
            <a:ext cx="7772400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6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Quantum Computing</a:t>
            </a:r>
            <a:endParaRPr lang="en-US" sz="2600" dirty="0"/>
          </a:p>
        </p:txBody>
      </p:sp>
      <p:pic>
        <p:nvPicPr>
          <p:cNvPr id="3" name="Image 0" descr="/home/gabriel/Documents/presentation_antigravity/slides/quantum_c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2599" y="1086445"/>
            <a:ext cx="2031950" cy="2031950"/>
          </a:xfrm>
          <a:prstGeom prst="rect">
            <a:avLst/>
          </a:prstGeom>
        </p:spPr>
      </p:pic>
      <p:pic>
        <p:nvPicPr>
          <p:cNvPr id="4" name="Image 1" descr="/home/gabriel/Documents/presentation_antigravity/slides/bits_vs_qubi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9450" y="1086445"/>
            <a:ext cx="2031950" cy="20319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233843" y="3656261"/>
            <a:ext cx="267616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400"/>
              </a:spcAft>
              <a:buNone/>
            </a:pPr>
            <a:r>
              <a:rPr lang="en-US" sz="20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Exploring the frontier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3233843" y="4129236"/>
            <a:ext cx="267616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Gabriel Díaz Ramos</a:t>
            </a:r>
            <a:endParaRPr lang="en-US" sz="2200" dirty="0"/>
          </a:p>
        </p:txBody>
      </p:sp>
      <p:pic>
        <p:nvPicPr>
          <p:cNvPr id="7" name="Image 2" descr="/home/gabriel/Documents/presentation_antigravity/slides/ow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901" y="4508450"/>
            <a:ext cx="507950" cy="507950"/>
          </a:xfrm>
          <a:prstGeom prst="rect">
            <a:avLst/>
          </a:prstGeom>
        </p:spPr>
      </p:pic>
      <p:pic>
        <p:nvPicPr>
          <p:cNvPr id="8" name="Image 3" descr="/home/gabriel/Documents/presentation_antigravity/slides/ow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149" y="4508450"/>
            <a:ext cx="507950" cy="5079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669" y="253901"/>
            <a:ext cx="8290661" cy="496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1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Classical vs. Quantum Computing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81000" y="940743"/>
            <a:ext cx="4850160" cy="3212902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lnSpc>
                <a:spcPts val="221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Classical computers process information using </a:t>
            </a:r>
            <a:pPr algn="l" indent="0" marL="0">
              <a:lnSpc>
                <a:spcPts val="2210"/>
              </a:lnSpc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bits</a:t>
            </a:r>
            <a:pPr algn="l" indent="0" marL="0">
              <a:lnSpc>
                <a:spcPts val="2210"/>
              </a:lnSpc>
              <a:spcAft>
                <a:spcPts val="8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each one strictly 0 </a:t>
            </a:r>
            <a:pPr algn="l" indent="0" marL="0">
              <a:lnSpc>
                <a:spcPts val="2210"/>
              </a:lnSpc>
              <a:spcAft>
                <a:spcPts val="800"/>
              </a:spcAft>
              <a:buNone/>
            </a:pPr>
            <a:r>
              <a:rPr lang="en-US" sz="1700" i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</a:t>
            </a:r>
            <a:pPr algn="l" indent="0" marL="0">
              <a:lnSpc>
                <a:spcPts val="2210"/>
              </a:lnSpc>
              <a:spcAft>
                <a:spcPts val="8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1, never both.</a:t>
            </a:r>
            <a:endParaRPr lang="en-US" sz="1700" dirty="0"/>
          </a:p>
          <a:p>
            <a:pPr algn="l" marL="152400" indent="-152400">
              <a:lnSpc>
                <a:spcPts val="221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Sequential execution means </a:t>
            </a:r>
            <a:pPr algn="l" indent="0" marL="0">
              <a:lnSpc>
                <a:spcPts val="2210"/>
              </a:lnSpc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CC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calculation at a time</a:t>
            </a:r>
            <a:pPr algn="l" indent="0" marL="0">
              <a:lnSpc>
                <a:spcPts val="2210"/>
              </a:lnSpc>
              <a:spcAft>
                <a:spcPts val="8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creating a fundamental speed ceiling.</a:t>
            </a:r>
            <a:endParaRPr lang="en-US" sz="1700" dirty="0"/>
          </a:p>
          <a:p>
            <a:pPr algn="l" marL="152400" indent="-152400">
              <a:lnSpc>
                <a:spcPts val="221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Quantum computers use </a:t>
            </a:r>
            <a:pPr algn="l" indent="0" marL="0">
              <a:lnSpc>
                <a:spcPts val="2210"/>
              </a:lnSpc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qubits</a:t>
            </a:r>
            <a:pPr algn="l" indent="0" marL="0">
              <a:lnSpc>
                <a:spcPts val="2210"/>
              </a:lnSpc>
              <a:spcAft>
                <a:spcPts val="8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thanks to superposition, a qubit can be 0, 1, or both simultaneously.</a:t>
            </a:r>
            <a:endParaRPr lang="en-US" sz="1700" dirty="0"/>
          </a:p>
          <a:p>
            <a:pPr algn="l" marL="152400" indent="-152400">
              <a:lnSpc>
                <a:spcPts val="2210"/>
              </a:lnSpc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00A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Exploit</a:t>
            </a:r>
            <a:pPr algn="l" indent="0" marL="0">
              <a:lnSpc>
                <a:spcPts val="2210"/>
              </a:lnSpc>
              <a:spcAft>
                <a:spcPts val="8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quantum superposition to explore </a:t>
            </a:r>
            <a:pPr algn="l" indent="0" marL="0">
              <a:lnSpc>
                <a:spcPts val="2210"/>
              </a:lnSpc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00A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exponentially many states</a:t>
            </a:r>
            <a:pPr algn="l" indent="0" marL="0">
              <a:lnSpc>
                <a:spcPts val="2210"/>
              </a:lnSpc>
              <a:spcAft>
                <a:spcPts val="8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 parallel.</a:t>
            </a:r>
            <a:endParaRPr lang="en-US" sz="1700" dirty="0"/>
          </a:p>
        </p:txBody>
      </p:sp>
      <p:pic>
        <p:nvPicPr>
          <p:cNvPr id="4" name="Image 0" descr="/home/gabriel/Documents/presentation_antigravity/slides/bits_vs_qubi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780" y="1004143"/>
            <a:ext cx="3048000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669" y="253901"/>
            <a:ext cx="8290661" cy="496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1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Quantum Concepts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81000" y="928092"/>
            <a:ext cx="4850160" cy="3351609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Superposition</a:t>
            </a:r>
            <a:pPr algn="l"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a qubit exists in multiple states simultaneously — until it is measured and collapses to one.</a:t>
            </a:r>
            <a:endParaRPr lang="en-US" sz="1600" dirty="0"/>
          </a:p>
          <a:p>
            <a:pPr algn="l" marL="152400" indent="-1524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Entanglement</a:t>
            </a:r>
            <a:pPr algn="l"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two qubits become correlated so that measuring one </a:t>
            </a:r>
            <a:pPr algn="l"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CC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instantly determines</a:t>
            </a:r>
            <a:pPr algn="l"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the other, regardless of distance.</a:t>
            </a:r>
            <a:endParaRPr lang="en-US" sz="1600" dirty="0"/>
          </a:p>
          <a:p>
            <a:pPr algn="l" marL="152400" indent="-1524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Interference</a:t>
            </a:r>
            <a:pPr algn="l"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quantum algorithms amplify correct paths and cancel wrong ones through wave-like probability interference.</a:t>
            </a:r>
            <a:endParaRPr lang="en-US" sz="1600" dirty="0"/>
          </a:p>
          <a:p>
            <a:pPr algn="l" marL="152400" indent="-1524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00A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Harness</a:t>
            </a:r>
            <a:pPr algn="l"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all three phenomena together to achieve </a:t>
            </a:r>
            <a:pPr algn="l"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0A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computational speedups impossible classically</a:t>
            </a:r>
            <a:pPr algn="l"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600" dirty="0"/>
          </a:p>
        </p:txBody>
      </p:sp>
      <p:pic>
        <p:nvPicPr>
          <p:cNvPr id="4" name="Image 0" descr="/home/gabriel/Documents/presentation_antigravity/slides/quantum_concep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780" y="991493"/>
            <a:ext cx="3048000" cy="2667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3901" y="4753719"/>
            <a:ext cx="8420302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i="1" dirty="0">
                <a:solidFill>
                  <a:srgbClr val="7777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M. A. Nielsen and I. L. Chuang, "Quantum Computation and Quantum Information", Cambridge University Press, 2000.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669" y="253901"/>
            <a:ext cx="8290661" cy="496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1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Quantum Computing Matters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81000" y="928092"/>
            <a:ext cx="4850160" cy="3351609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Drug Discovery:</a:t>
            </a:r>
            <a:pPr algn="l"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Simulate molecular interactions at quantum scale, accelerating pharmaceutical research by years.</a:t>
            </a:r>
            <a:endParaRPr lang="en-US" sz="1600" dirty="0"/>
          </a:p>
          <a:p>
            <a:pPr algn="l" marL="152400" indent="-1524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Cryptography:</a:t>
            </a:r>
            <a:pPr algn="l"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Quantum algorithms can </a:t>
            </a:r>
            <a:pPr algn="l"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CC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break current RSA encryption</a:t>
            </a:r>
            <a:pPr algn="l"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driving a global shift to post-quantum security.</a:t>
            </a:r>
            <a:endParaRPr lang="en-US" sz="1600" dirty="0"/>
          </a:p>
          <a:p>
            <a:pPr algn="l" marL="152400" indent="-1524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Optimization:</a:t>
            </a:r>
            <a:pPr algn="l"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Solve combinatorial logistics, supply-chain, and financial modeling problems that are </a:t>
            </a:r>
            <a:pPr algn="l"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intractable classically</a:t>
            </a:r>
            <a:pPr algn="l"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600" dirty="0"/>
          </a:p>
          <a:p>
            <a:pPr algn="l" marL="152400" indent="-1524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00A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Unlock</a:t>
            </a:r>
            <a:pPr algn="l"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new paradigm of </a:t>
            </a:r>
            <a:pPr algn="l"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0A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exponential computational advantage</a:t>
            </a:r>
            <a:pPr algn="l"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across science, industry, and security.</a:t>
            </a:r>
            <a:endParaRPr lang="en-US" sz="1600" dirty="0"/>
          </a:p>
        </p:txBody>
      </p:sp>
      <p:pic>
        <p:nvPicPr>
          <p:cNvPr id="4" name="Image 0" descr="/home/gabriel/Documents/presentation_antigravity/slides/quantum_applica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780" y="991493"/>
            <a:ext cx="3048000" cy="2667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3901" y="4753719"/>
            <a:ext cx="8420302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i="1" dirty="0">
                <a:solidFill>
                  <a:srgbClr val="7777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P. W. Shor, "Polynomial-Time Algorithms for Prime Factorization and Discrete Logarithms on a Quantum Computer", SIAM J. Comput., 1997.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669" y="279350"/>
            <a:ext cx="8290661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Acknowledgments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7950" y="1058912"/>
            <a:ext cx="8128099" cy="3111103"/>
          </a:xfrm>
          <a:prstGeom prst="rect">
            <a:avLst/>
          </a:prstGeom>
          <a:noFill/>
          <a:ln/>
        </p:spPr>
        <p:txBody>
          <a:bodyPr wrap="square" lIns="177800" tIns="0" rIns="0" bIns="0" rtlCol="0" anchor="t"/>
          <a:lstStyle/>
          <a:p>
            <a:pPr algn="l" marL="177800" indent="-177800">
              <a:lnSpc>
                <a:spcPts val="27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for your time and attention.</a:t>
            </a:r>
            <a:endParaRPr lang="en-US" sz="2000" dirty="0"/>
          </a:p>
          <a:p>
            <a:pPr algn="l" marL="177800" indent="-177800">
              <a:lnSpc>
                <a:spcPts val="27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gratefully acknowledge </a:t>
            </a:r>
            <a:pPr algn="l" indent="0" marL="0">
              <a:lnSpc>
                <a:spcPts val="2700"/>
              </a:lnSpc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Richard G. Baraniuk</a:t>
            </a:r>
            <a:pPr algn="l" indent="0" marL="0">
              <a:lnSpc>
                <a:spcPts val="27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(advisor), </a:t>
            </a:r>
            <a:pPr algn="l" indent="0" marL="0">
              <a:lnSpc>
                <a:spcPts val="2700"/>
              </a:lnSpc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Toros Arikan</a:t>
            </a:r>
            <a:pPr algn="l" indent="0" marL="0">
              <a:lnSpc>
                <a:spcPts val="27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(postdoctoral mentor), as well as my </a:t>
            </a:r>
            <a:pPr algn="l" indent="0" marL="0">
              <a:lnSpc>
                <a:spcPts val="2700"/>
              </a:lnSpc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family, friends, and girlfriend</a:t>
            </a:r>
            <a:pPr algn="l" indent="0" marL="0">
              <a:lnSpc>
                <a:spcPts val="27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their unconditional support.</a:t>
            </a:r>
            <a:endParaRPr lang="en-US" sz="2000" dirty="0"/>
          </a:p>
          <a:p>
            <a:pPr algn="l" marL="177800" indent="-177800">
              <a:lnSpc>
                <a:spcPts val="27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 thanks to the </a:t>
            </a:r>
            <a:pPr algn="l" indent="0" marL="0">
              <a:lnSpc>
                <a:spcPts val="2700"/>
              </a:lnSpc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Physics Program</a:t>
            </a:r>
            <a:pPr algn="l" indent="0" marL="0">
              <a:lnSpc>
                <a:spcPts val="27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2700"/>
              </a:lnSpc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ECE department</a:t>
            </a:r>
            <a:pPr algn="l" indent="0" marL="0">
              <a:lnSpc>
                <a:spcPts val="27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 </a:t>
            </a:r>
            <a:pPr algn="l" indent="0" marL="0">
              <a:lnSpc>
                <a:spcPts val="2700"/>
              </a:lnSpc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Rice University.</a:t>
            </a:r>
            <a:endParaRPr lang="en-US" sz="2000" dirty="0"/>
          </a:p>
          <a:p>
            <a:pPr algn="l" marL="177800" indent="-177800">
              <a:lnSpc>
                <a:spcPts val="27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welcome any questions.</a:t>
            </a:r>
            <a:endParaRPr lang="en-US" sz="2000" dirty="0"/>
          </a:p>
        </p:txBody>
      </p:sp>
      <p:pic>
        <p:nvPicPr>
          <p:cNvPr id="4" name="Image 0" descr="/home/gabriel/Documents/presentation_antigravity/slides/ow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901" y="4330898"/>
            <a:ext cx="634901" cy="634901"/>
          </a:xfrm>
          <a:prstGeom prst="rect">
            <a:avLst/>
          </a:prstGeom>
        </p:spPr>
      </p:pic>
      <p:pic>
        <p:nvPicPr>
          <p:cNvPr id="5" name="Image 1" descr="/home/gabriel/Documents/presentation_antigravity/slides/quantum_ch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702" y="4330898"/>
            <a:ext cx="634901" cy="63490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presentation_antigravity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Quantum Computing</dc:title>
  <dc:subject>pptx-research skill validation deck</dc:subject>
  <dc:creator>Gabriel Diaz Ramos</dc:creator>
  <cp:lastModifiedBy>Gabriel Diaz Ramos</cp:lastModifiedBy>
  <cp:revision>1</cp:revision>
  <dcterms:created xsi:type="dcterms:W3CDTF">2026-04-01T01:25:32Z</dcterms:created>
  <dcterms:modified xsi:type="dcterms:W3CDTF">2026-04-01T01:25:32Z</dcterms:modified>
</cp:coreProperties>
</file>
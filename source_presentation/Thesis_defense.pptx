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media41.mp4" ContentType="video/mp4"/>
  <Override PartName="/ppt/media/media39.mp4" ContentType="video/mp4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3.xml" ContentType="application/vnd.openxmlformats-officedocument.presentationml.slide+xml"/>
  <Override PartName="/ppt/slides/slide1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2448067-CC08-4582-8128-F74FDBF9574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B2C46A0-6D6C-4C87-A22E-D29FA17BB80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frame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108E440-48A3-4181-9EE8-B851EE8734B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CA7979-AC20-4A0A-B84D-513BBA77113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Runtime depends heavily on search space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AAF81D8-B5AE-44D6-8649-2A44C2173AC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Order must be given in the input. Supervised needed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A20CC77-4BE5-491D-83B4-1E4DA54EFB1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12x9 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9x9 cm2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3D0BA6C-487F-4D7E-AF40-386A28FC5A1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Identify the graph problem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frame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7B5F9AF-BECC-417F-A9B9-558D26CDCF9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Supervised Regime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C28CB66-86AD-4502-8B8C-D31FB72A4DD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Train in lower terminals and test in higher number of terminals.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F162C07-122C-47C4-AA27-E0C25BE7706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4B0E264-0697-40AD-9056-B0A635C36A8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Mention skip connections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6DD58B7-6541-4FD5-B6FD-4ED0D48E0E8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frame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D906A53-1395-437A-A403-E2F4B6E9942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Say length will be seen in final floorplan comparison.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B669358-AEBF-4FCD-A39C-C0FBF8D37C6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Select one terminal as the starting point.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frame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D896E1F-0606-4BF8-A231-BC866AD62FC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Original was messy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frame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C0E1239-752D-419E-B7E7-177FC4989EE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Tables with length gain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D50EFEB-90E6-4C7A-80FB-59A79E27E6E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A*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sees an average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30% runtime reduction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with filters, with MazeNet offering the best balance.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RRT*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benefits the most—up to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80% runtime reduction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—as spatial constraints enhance its random sampling efficiency.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7E9076B-B566-4B1A-AC8B-1DC70884D25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Say length will be seen in final floorplan comparison.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6DA24CD-1E36-4FE3-B85E-3F4FA317B3F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A*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sees an average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30% runtime reduction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with filters, with MazeNet offering the best balance.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RRT*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benefits the most—up to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80% runtime reduction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—as spatial constraints enhance its random sampling efficiency.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8FC91BA-92C1-46A7-8957-A11E212365E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Tables with length gain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B9F04C4-C3F2-4AAA-A96E-23875174A1F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9F6506-5419-4B6F-AB89-77BD1710530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EDAF50-4E6F-4EE2-BA82-003CD9AC80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839080" y="274680"/>
            <a:ext cx="27428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274680"/>
            <a:ext cx="802620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A24E25-4793-45F8-96E0-6F370D0BFFE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8221C3-F1C9-4B62-9D0C-46763309C93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28840A-28D7-4585-8794-3EF3BB868D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209975-BF55-4976-859F-FC4D84352FE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6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68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84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84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7D5BBB-773F-40F1-A058-CBAD045B38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761068-C14D-45D9-8A49-1E888D0993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6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62CFFC-0506-4A14-BA95-BA6E37495C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76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516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76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8776F9-1C52-4F8D-9AB5-C052D7196C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48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B59922-1878-4A6C-8BCF-203300A9E02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4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8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12.png"/><Relationship Id="rId4" Type="http://schemas.openxmlformats.org/officeDocument/2006/relationships/image" Target="../media/image2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24.png"/><Relationship Id="rId5" Type="http://schemas.openxmlformats.org/officeDocument/2006/relationships/image" Target="../media/image30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slideLayout" Target="../slideLayouts/slideLayout8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0.png"/><Relationship Id="rId3" Type="http://schemas.openxmlformats.org/officeDocument/2006/relationships/image" Target="../media/image35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video" Target="../media/media39.mp4"/><Relationship Id="rId2" Type="http://schemas.microsoft.com/office/2007/relationships/media" Target="../media/media39.mp4"/><Relationship Id="rId3" Type="http://schemas.openxmlformats.org/officeDocument/2006/relationships/image" Target="../media/image40.png"/><Relationship Id="rId4" Type="http://schemas.openxmlformats.org/officeDocument/2006/relationships/slideLayout" Target="../slideLayouts/slideLayout8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video" Target="../media/media41.mp4"/><Relationship Id="rId2" Type="http://schemas.microsoft.com/office/2007/relationships/media" Target="../media/media41.mp4"/><Relationship Id="rId3" Type="http://schemas.openxmlformats.org/officeDocument/2006/relationships/image" Target="../media/image42.png"/><Relationship Id="rId4" Type="http://schemas.openxmlformats.org/officeDocument/2006/relationships/slideLayout" Target="../slideLayouts/slideLayout8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slideLayout" Target="../slideLayouts/slideLayout8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8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46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slideLayout" Target="../slideLayouts/slideLayout8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image" Target="../media/image51.png"/><Relationship Id="rId3" Type="http://schemas.openxmlformats.org/officeDocument/2006/relationships/image" Target="../media/image51.png"/><Relationship Id="rId4" Type="http://schemas.openxmlformats.org/officeDocument/2006/relationships/slideLayout" Target="../slideLayouts/slideLayout8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image" Target="../media/image53.png"/><Relationship Id="rId3" Type="http://schemas.openxmlformats.org/officeDocument/2006/relationships/slideLayout" Target="../slideLayouts/slideLayout8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image" Target="../media/image55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image" Target="../media/image57.png"/><Relationship Id="rId3" Type="http://schemas.openxmlformats.org/officeDocument/2006/relationships/slideLayout" Target="../slideLayouts/slideLayout8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slideLayout" Target="../slideLayouts/slideLayout8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image" Target="../media/image64.png"/><Relationship Id="rId3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219320" y="3960"/>
            <a:ext cx="9753120" cy="12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3200" b="1" u="sng" strike="noStrike">
                <a:solidFill>
                  <a:schemeClr val="dk1"/>
                </a:solidFill>
                <a:effectLst/>
                <a:uFillTx/>
                <a:latin typeface="Calibri"/>
              </a:rPr>
              <a:t>Shortest-Path Solutions for Connecting Multiple Terminals via Deep Learning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412560" y="5870520"/>
            <a:ext cx="11367000" cy="55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en-US" sz="2800" b="1" u="sng" strike="noStrike">
                <a:solidFill>
                  <a:schemeClr val="dk1"/>
                </a:solidFill>
                <a:effectLst/>
                <a:uFillTx/>
                <a:latin typeface="Calibri"/>
              </a:rPr>
              <a:t>Gabriel D</a:t>
            </a:r>
            <a:r>
              <a:rPr lang="es-MX" sz="2800" b="1" u="sng" strike="noStrike">
                <a:solidFill>
                  <a:schemeClr val="dk1"/>
                </a:solidFill>
                <a:effectLst/>
                <a:uFillTx/>
                <a:latin typeface="Calibri"/>
              </a:rPr>
              <a:t>í</a:t>
            </a:r>
            <a:r>
              <a:rPr lang="en-US" sz="2800" b="1" u="sng" strike="noStrike">
                <a:solidFill>
                  <a:schemeClr val="dk1"/>
                </a:solidFill>
                <a:effectLst/>
                <a:uFillTx/>
                <a:latin typeface="Calibri"/>
              </a:rPr>
              <a:t>az Ramos</a:t>
            </a:r>
            <a:endParaRPr lang="en-US" sz="28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pic>
        <p:nvPicPr>
          <p:cNvPr id="69" name="Picture 4" descr="May be an image of owl and great grey owl"/>
          <p:cNvPicPr/>
          <p:nvPr/>
        </p:nvPicPr>
        <p:blipFill>
          <a:blip r:embed="rId1"/>
          <a:stretch/>
        </p:blipFill>
        <p:spPr>
          <a:xfrm>
            <a:off x="152280" y="5870520"/>
            <a:ext cx="910800" cy="910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Picture 18"/>
          <p:cNvPicPr/>
          <p:nvPr/>
        </p:nvPicPr>
        <p:blipFill>
          <a:blip r:embed="rId2"/>
          <a:stretch/>
        </p:blipFill>
        <p:spPr>
          <a:xfrm>
            <a:off x="7010280" y="1869120"/>
            <a:ext cx="3150360" cy="315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Picture 4" descr="May be an image of owl and great grey owl"/>
          <p:cNvPicPr/>
          <p:nvPr/>
        </p:nvPicPr>
        <p:blipFill>
          <a:blip r:embed="rId3"/>
          <a:stretch/>
        </p:blipFill>
        <p:spPr>
          <a:xfrm>
            <a:off x="11128320" y="5870520"/>
            <a:ext cx="910800" cy="91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itle 1"/>
          <p:cNvSpPr/>
          <p:nvPr/>
        </p:nvSpPr>
        <p:spPr>
          <a:xfrm>
            <a:off x="608040" y="4941000"/>
            <a:ext cx="109724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i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 fresh perspective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Picture 2" descr="A person in a suit standing in a maze&#10;&#10;AI-generated content may be incorrect."/>
          <p:cNvPicPr/>
          <p:nvPr/>
        </p:nvPicPr>
        <p:blipFill>
          <a:blip r:embed="rId4"/>
          <a:stretch/>
        </p:blipFill>
        <p:spPr>
          <a:xfrm>
            <a:off x="2031120" y="1860480"/>
            <a:ext cx="3154320" cy="3154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3958560" y="0"/>
            <a:ext cx="4274280" cy="91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Agenda &amp; Movie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337320" y="1277280"/>
            <a:ext cx="7850880" cy="4618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spAutoFit/>
          </a:bodyPr>
          <a:p>
            <a: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Challenge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99960" lvl="1" algn="l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Multigoal path planning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99960" lvl="1" algn="l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Hard robotics problem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Approach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99960" lvl="1" algn="l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Recurrent Convolutional Neural Networks 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99960" lvl="1" algn="l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Generalization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Key Innovation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99960" lvl="1" algn="l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New method: </a:t>
            </a:r>
            <a:r>
              <a:rPr lang="en-US" sz="2000" b="1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MazeNet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99960" lvl="1" algn="l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Termination Condition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Results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99960" lvl="1" algn="l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Synthetic Data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99960" lvl="1" algn="l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Real Floorplans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Conclusions &amp; Future Work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sldNum" idx="3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11B01E-8915-4280-A2C5-89C3FCA1C9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7" name="Picture 5" descr="A black and white background with black lines&#10;&#10;AI-generated content may be incorrect."/>
          <p:cNvPicPr/>
          <p:nvPr/>
        </p:nvPicPr>
        <p:blipFill>
          <a:blip r:embed="rId1"/>
          <a:stretch/>
        </p:blipFill>
        <p:spPr>
          <a:xfrm>
            <a:off x="5780880" y="1735920"/>
            <a:ext cx="5601600" cy="3118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42720" y="3600"/>
            <a:ext cx="1150596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Multigoal path planning with obstacles 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2"/>
          <p:cNvSpPr/>
          <p:nvPr/>
        </p:nvSpPr>
        <p:spPr>
          <a:xfrm>
            <a:off x="342720" y="6011640"/>
            <a:ext cx="1107972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</a:rPr>
              <a:t>H. Choset, K. M. Lynch, S. Hutchinson, G. Kantor, W. Burgard, L. E. Kavraki, and S. Thrun. “Principles of Robot Motion: Theory, Algorithms, and Implementations”. MIT Press, 2005.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7"/>
          <p:cNvSpPr/>
          <p:nvPr/>
        </p:nvSpPr>
        <p:spPr>
          <a:xfrm>
            <a:off x="342720" y="1243800"/>
            <a:ext cx="814608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robotic agent must visit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multiple pre-specified destinations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within an environment.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4"/>
          <p:cNvSpPr/>
          <p:nvPr/>
        </p:nvSpPr>
        <p:spPr>
          <a:xfrm>
            <a:off x="342720" y="2298960"/>
            <a:ext cx="762048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environment contains designated areas that must be avoided 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(obstacle-avoidance).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8"/>
          <p:cNvSpPr/>
          <p:nvPr/>
        </p:nvSpPr>
        <p:spPr>
          <a:xfrm>
            <a:off x="342720" y="3352680"/>
            <a:ext cx="7620480" cy="13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Finding an optimal shortest path under these constraints is a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computationally challenging problem.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"/>
          <p:cNvSpPr/>
          <p:nvPr/>
        </p:nvSpPr>
        <p:spPr>
          <a:xfrm>
            <a:off x="342720" y="4839120"/>
            <a:ext cx="1061064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B0F0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Arial"/>
              </a:rPr>
              <a:t>Simplify</a:t>
            </a:r>
            <a:r>
              <a:rPr lang="en-US" sz="2800" b="0" u="none" strike="noStrike">
                <a:solidFill>
                  <a:srgbClr val="00B0F0"/>
                </a:solidFill>
                <a:effectLst/>
                <a:uFillTx/>
                <a:latin typeface="Arial"/>
              </a:rPr>
              <a:t>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problem </a:t>
            </a: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Arial"/>
              </a:rPr>
              <a:t>using image processing techniques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to aid path planning.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Picture 6" descr="A cartoon of a robot and a blue line&#10;&#10;AI-generated content may be incorrect."/>
          <p:cNvPicPr/>
          <p:nvPr/>
        </p:nvPicPr>
        <p:blipFill>
          <a:blip r:embed="rId1"/>
          <a:stretch/>
        </p:blipFill>
        <p:spPr>
          <a:xfrm>
            <a:off x="8268480" y="1465920"/>
            <a:ext cx="3154320" cy="3154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PlaceHolder 2"/>
          <p:cNvSpPr>
            <a:spLocks noGrp="1"/>
          </p:cNvSpPr>
          <p:nvPr>
            <p:ph type="sldNum" idx="38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5078D2-0B70-4B3B-A045-CDED54BE17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09480" y="252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Traditional Path Planners: A*, ARA*, and RRT*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609480" y="1145880"/>
            <a:ext cx="10801080" cy="13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A*: A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deterministic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search algorithm that </a:t>
            </a:r>
            <a:r>
              <a:rPr lang="en-US" sz="2800" b="1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guarantees the shortest path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with an admissible heuristic. Runtime 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scales poorly</a:t>
            </a: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with search space size.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5"/>
          <p:cNvSpPr/>
          <p:nvPr/>
        </p:nvSpPr>
        <p:spPr>
          <a:xfrm>
            <a:off x="609480" y="2532600"/>
            <a:ext cx="6493680" cy="13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Anytime Repairing A* (ARA*): Provides a </a:t>
            </a: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Arial"/>
              </a:rPr>
              <a:t>quick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longer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path that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converges to A*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over time.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6"/>
          <p:cNvSpPr/>
          <p:nvPr/>
        </p:nvSpPr>
        <p:spPr>
          <a:xfrm>
            <a:off x="609480" y="3966840"/>
            <a:ext cx="6165360" cy="181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Rapidly expanding Random Trees (RRT*): A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sampling-based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planner that is 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slower to converge</a:t>
            </a: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 unconstrained environments.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Picture 10" descr="A black and white map"/>
          <p:cNvPicPr/>
          <p:nvPr/>
        </p:nvPicPr>
        <p:blipFill>
          <a:blip r:embed="rId1"/>
          <a:srcRect l="700" t="1292" r="783" b="1432"/>
          <a:stretch/>
        </p:blipFill>
        <p:spPr>
          <a:xfrm>
            <a:off x="6860520" y="2473200"/>
            <a:ext cx="4550040" cy="253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Box 11"/>
          <p:cNvSpPr/>
          <p:nvPr/>
        </p:nvSpPr>
        <p:spPr>
          <a:xfrm>
            <a:off x="609480" y="6015600"/>
            <a:ext cx="1097244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1199"/>
              </a:spcAft>
            </a:pPr>
            <a:r>
              <a:rPr lang="en-US" sz="1400" b="0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</a:rPr>
              <a:t>Ferguson, Likhachev, and Stentz, A Guide to Heuristic-Based Path Planning, Proc. Int. Workshop on Planning under Uncertainty for Autonomous Systems, ICAPS, June 2005.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032F551B-435D-4B9E-8AA0-B9B386ACA43E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42720" y="3600"/>
            <a:ext cx="1150596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Toward a Simplified Representation for Path Planning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718920" y="3929760"/>
            <a:ext cx="1075356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B0F0"/>
              </a:buClr>
              <a:buFont typeface="Arial"/>
              <a:buChar char="•"/>
            </a:pPr>
            <a:r>
              <a:rPr lang="en-US" sz="2800" b="1" u="sng" strike="noStrike">
                <a:solidFill>
                  <a:srgbClr val="00B0F0"/>
                </a:solidFill>
                <a:effectLst/>
                <a:uFillTx/>
                <a:latin typeface="Arial"/>
              </a:rPr>
              <a:t>MazeNet</a:t>
            </a: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Arial"/>
              </a:rPr>
              <a:t> simplifies floorplans</a:t>
            </a:r>
            <a:r>
              <a:rPr lang="en-US" sz="2800" b="0" u="none" strike="noStrike">
                <a:solidFill>
                  <a:srgbClr val="00B0F0"/>
                </a:solidFill>
                <a:effectLst/>
                <a:uFillTx/>
                <a:latin typeface="Arial"/>
              </a:rPr>
              <a:t>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by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intelligently adding constraints.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4"/>
          <p:cNvSpPr/>
          <p:nvPr/>
        </p:nvSpPr>
        <p:spPr>
          <a:xfrm>
            <a:off x="718920" y="4857840"/>
            <a:ext cx="1075356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constrained floorplan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image </a:t>
            </a:r>
            <a:r>
              <a:rPr lang="en-US" sz="2800" b="1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contains the optimal shortest path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within it.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2"/>
          <p:cNvSpPr/>
          <p:nvPr/>
        </p:nvSpPr>
        <p:spPr>
          <a:xfrm>
            <a:off x="0" y="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tIns="-45000" bIns="-45000" anchor="ctr">
            <a:spAutoFit/>
          </a:bodyPr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MazeNet simplifies floorplans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by intelligently adding constraints.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Picture 12"/>
          <p:cNvPicPr/>
          <p:nvPr/>
        </p:nvPicPr>
        <p:blipFill>
          <a:blip r:embed="rId1"/>
          <a:stretch/>
        </p:blipFill>
        <p:spPr>
          <a:xfrm>
            <a:off x="2509560" y="833760"/>
            <a:ext cx="7172280" cy="313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PlaceHolder 2"/>
          <p:cNvSpPr>
            <a:spLocks noGrp="1"/>
          </p:cNvSpPr>
          <p:nvPr>
            <p:ph type="sldNum" idx="3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E8AFE8-144D-443C-A204-7DA72599BF7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TextBox 5"/>
          <p:cNvSpPr/>
          <p:nvPr/>
        </p:nvSpPr>
        <p:spPr>
          <a:xfrm>
            <a:off x="609480" y="6015600"/>
            <a:ext cx="1097244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1199"/>
              </a:spcAft>
            </a:pPr>
            <a:r>
              <a:rPr lang="en-US" sz="1400" b="0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</a:rPr>
              <a:t>G. Díaz, T. Arikan, and R. G. Baraniuk, “A Deep Learning Method for Obstacle-Avoiding Shortest-Path Solutions to Connect Multiple Terminals,” in preparation for submission to IEEE Transactions on Robotics, 2025.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1224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Challenge: Floorplan Abstraction for Planning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4"/>
          <p:cNvSpPr/>
          <p:nvPr/>
        </p:nvSpPr>
        <p:spPr>
          <a:xfrm>
            <a:off x="285480" y="2180520"/>
            <a:ext cx="6015240" cy="181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Floorplans can be abstracted via raster grids, vector paths, </a:t>
            </a: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Arial"/>
              </a:rPr>
              <a:t>graphs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or semantic maps—each with trade-offs.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5"/>
          <p:cNvSpPr/>
          <p:nvPr/>
        </p:nvSpPr>
        <p:spPr>
          <a:xfrm>
            <a:off x="285480" y="1156680"/>
            <a:ext cx="1140192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Curves, irregular shapes, and fine details must often be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reduced to simpler geometric shapes.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6"/>
          <p:cNvSpPr/>
          <p:nvPr/>
        </p:nvSpPr>
        <p:spPr>
          <a:xfrm>
            <a:off x="285480" y="4034520"/>
            <a:ext cx="6957000" cy="181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Discretizing the floorplan requires a minimum unit area, which 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limits the number of cells in a discretized floorplan.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7"/>
          <p:cNvSpPr/>
          <p:nvPr/>
        </p:nvSpPr>
        <p:spPr>
          <a:xfrm>
            <a:off x="285480" y="6231240"/>
            <a:ext cx="112964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1199"/>
              </a:spcAft>
            </a:pPr>
            <a:r>
              <a:rPr lang="en-US" sz="1400" b="0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</a:rPr>
              <a:t>Cruz </a:t>
            </a:r>
            <a:r>
              <a:rPr lang="en-US" sz="1400" b="0" i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</a:rPr>
              <a:t>et al.</a:t>
            </a:r>
            <a:r>
              <a:rPr lang="en-US" sz="1400" b="0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</a:rPr>
              <a:t>, </a:t>
            </a:r>
            <a:r>
              <a:rPr lang="en-US" sz="1400" b="0" i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</a:rPr>
              <a:t>Zillow Indoor Dataset: Annotated Floor Plans With 360º Panoramas and 3D Room Layouts</a:t>
            </a:r>
            <a:r>
              <a:rPr lang="en-US" sz="1400" b="0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</a:rPr>
              <a:t>, CVPR 2021.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Picture 8" descr="A black and white image of a building&#10;&#10;AI-generated content may be incorrect."/>
          <p:cNvPicPr/>
          <p:nvPr/>
        </p:nvPicPr>
        <p:blipFill>
          <a:blip r:embed="rId1"/>
          <a:stretch/>
        </p:blipFill>
        <p:spPr>
          <a:xfrm>
            <a:off x="6760440" y="2412360"/>
            <a:ext cx="4926960" cy="274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Picture 14" descr="A black and white drawing of a house&#10;&#10;AI-generated content may be incorrect."/>
          <p:cNvPicPr/>
          <p:nvPr/>
        </p:nvPicPr>
        <p:blipFill>
          <a:blip r:embed="rId2"/>
          <a:stretch/>
        </p:blipFill>
        <p:spPr>
          <a:xfrm>
            <a:off x="6760440" y="2438280"/>
            <a:ext cx="4926960" cy="274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Picture 16" descr="A black and white image of a building&#10;&#10;AI-generated content may be incorrect."/>
          <p:cNvPicPr/>
          <p:nvPr/>
        </p:nvPicPr>
        <p:blipFill>
          <a:blip r:embed="rId3"/>
          <a:stretch/>
        </p:blipFill>
        <p:spPr>
          <a:xfrm>
            <a:off x="6760440" y="2425320"/>
            <a:ext cx="4926960" cy="274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891F42A-CAD3-47CF-AB4B-229093B14AED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1224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Why a Mazelike Structure?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3"/>
          <p:cNvSpPr/>
          <p:nvPr/>
        </p:nvSpPr>
        <p:spPr>
          <a:xfrm>
            <a:off x="435960" y="1137240"/>
            <a:ext cx="6655320" cy="13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Grid mazes serve as controlled, </a:t>
            </a:r>
            <a:r>
              <a:rPr lang="en-US" sz="2800" b="1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well-understood environments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ideal for developing and testing algorithms.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6"/>
          <p:cNvSpPr/>
          <p:nvPr/>
        </p:nvSpPr>
        <p:spPr>
          <a:xfrm>
            <a:off x="435960" y="2747160"/>
            <a:ext cx="6714360" cy="13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When the discretization unit is chosen appropriately, essential structural and </a:t>
            </a: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Arial"/>
              </a:rPr>
              <a:t>spatial information is preserved.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8"/>
          <p:cNvSpPr/>
          <p:nvPr/>
        </p:nvSpPr>
        <p:spPr>
          <a:xfrm>
            <a:off x="435960" y="4409640"/>
            <a:ext cx="11469240" cy="13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Grid structures have been effectively used with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Recurrent Convolutional Neural Networks (RCNNs)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to solve maze-like problems.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0"/>
          <p:cNvSpPr/>
          <p:nvPr/>
        </p:nvSpPr>
        <p:spPr>
          <a:xfrm>
            <a:off x="435960" y="6094800"/>
            <a:ext cx="1114632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1199"/>
              </a:spcAft>
            </a:pPr>
            <a:r>
              <a:rPr lang="en-US" sz="1400" b="0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</a:rPr>
              <a:t>Schwarzschild </a:t>
            </a:r>
            <a:r>
              <a:rPr lang="en-US" sz="1400" b="0" i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</a:rPr>
              <a:t>et al.</a:t>
            </a:r>
            <a:r>
              <a:rPr lang="en-US" sz="1400" b="0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</a:rPr>
              <a:t>, </a:t>
            </a:r>
            <a:r>
              <a:rPr lang="en-US" sz="1400" b="0" i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</a:rPr>
              <a:t>Can You Learn an Algorithm? Generalizing from Easy to Hard Problems with Recurrent Networks</a:t>
            </a:r>
            <a:r>
              <a:rPr lang="en-US" sz="1400" b="0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</a:rPr>
              <a:t>, NeurIPS 2021, vol. 34, pp. 6695–6706.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Picture 7" descr="A black and white pixelated map&#10;&#10;AI-generated content may be incorrect."/>
          <p:cNvPicPr/>
          <p:nvPr/>
        </p:nvPicPr>
        <p:blipFill>
          <a:blip r:embed="rId1"/>
          <a:srcRect l="953" t="1196" r="812" b="1005"/>
          <a:stretch/>
        </p:blipFill>
        <p:spPr>
          <a:xfrm>
            <a:off x="6963120" y="1317960"/>
            <a:ext cx="4618800" cy="280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Picture 9" descr="A black and white background with black lines"/>
          <p:cNvPicPr/>
          <p:nvPr/>
        </p:nvPicPr>
        <p:blipFill>
          <a:blip r:embed="rId2"/>
          <a:stretch/>
        </p:blipFill>
        <p:spPr>
          <a:xfrm>
            <a:off x="6963120" y="1329840"/>
            <a:ext cx="4618800" cy="279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Picture 5" descr="A black and white rectangular object with green dots&#10;&#10;AI-generated content may be incorrect."/>
          <p:cNvPicPr/>
          <p:nvPr/>
        </p:nvPicPr>
        <p:blipFill>
          <a:blip r:embed="rId3"/>
          <a:srcRect l="4640" t="1790" r="957" b="1790"/>
          <a:stretch/>
        </p:blipFill>
        <p:spPr>
          <a:xfrm>
            <a:off x="6984000" y="1329480"/>
            <a:ext cx="4640760" cy="279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2968A6D-1958-4245-BCE9-5F80614024DB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" dur="indefinite" restart="never" nodeType="tmRoot">
          <p:childTnLst>
            <p:seq>
              <p:cTn id="14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09480" y="28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OARSMT: Obstacle-Avoiding Rectilinear Steiner Minimal Tree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7"/>
          <p:cNvSpPr/>
          <p:nvPr/>
        </p:nvSpPr>
        <p:spPr>
          <a:xfrm>
            <a:off x="741240" y="3739680"/>
            <a:ext cx="676116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Complexity: This is an 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NP-hard problem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in graph theory.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8"/>
          <p:cNvSpPr/>
          <p:nvPr/>
        </p:nvSpPr>
        <p:spPr>
          <a:xfrm>
            <a:off x="741240" y="1302840"/>
            <a:ext cx="6761160" cy="13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Objective: Find the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minimum total distance path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that </a:t>
            </a: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Arial"/>
              </a:rPr>
              <a:t>connects a given set of terminals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in a graph.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3"/>
          <p:cNvSpPr/>
          <p:nvPr/>
        </p:nvSpPr>
        <p:spPr>
          <a:xfrm>
            <a:off x="741240" y="2736720"/>
            <a:ext cx="645516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Obstacle-avoiding: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avoid some designated nodes and edges.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4"/>
          <p:cNvSpPr/>
          <p:nvPr/>
        </p:nvSpPr>
        <p:spPr>
          <a:xfrm>
            <a:off x="741240" y="4740480"/>
            <a:ext cx="645516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Rectilinear: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Travel via the cardinal directions (North, South, East, West).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Picture 10" descr="A maze with blue and green dots&#10;&#10;AI-generated content may be incorrect."/>
          <p:cNvPicPr/>
          <p:nvPr/>
        </p:nvPicPr>
        <p:blipFill>
          <a:blip r:embed="rId1"/>
          <a:srcRect l="6405" t="4710" r="6438" b="4326"/>
          <a:stretch/>
        </p:blipFill>
        <p:spPr>
          <a:xfrm>
            <a:off x="6723360" y="2201040"/>
            <a:ext cx="4727160" cy="274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Box 5"/>
          <p:cNvSpPr/>
          <p:nvPr/>
        </p:nvSpPr>
        <p:spPr>
          <a:xfrm>
            <a:off x="741240" y="6275520"/>
            <a:ext cx="107096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1199"/>
              </a:spcAft>
            </a:pPr>
            <a:r>
              <a:rPr lang="en-US" sz="1400" b="0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</a:rPr>
              <a:t>Hwang, Richards, and Winter, The Steiner Tree Problem, Annals of Discrete Mathematics, vol. 53, North-Holland, 1992.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7B5B531D-E14B-4608-A8AE-03BA2E0F8256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09480" y="28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Challenge: Optimality vs. Runtime Tradeoff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4"/>
          <p:cNvSpPr/>
          <p:nvPr/>
        </p:nvSpPr>
        <p:spPr>
          <a:xfrm>
            <a:off x="609480" y="2581560"/>
            <a:ext cx="6248160" cy="181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B0F0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Arial"/>
              </a:rPr>
              <a:t>Approximate methods: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Achieve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state-of-the-art runtimes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but often 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introduce errors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sacrificing solution quality.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5"/>
          <p:cNvSpPr/>
          <p:nvPr/>
        </p:nvSpPr>
        <p:spPr>
          <a:xfrm>
            <a:off x="609480" y="1196640"/>
            <a:ext cx="11264400" cy="13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Dijkstra’s Exhaustive Method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 </a:t>
            </a:r>
            <a:r>
              <a:rPr lang="en-US" sz="2800" b="1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optimal shortest solution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but suffers from 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exponential scaling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making it prohibitive even for relatively small problems.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6"/>
          <p:cNvSpPr/>
          <p:nvPr/>
        </p:nvSpPr>
        <p:spPr>
          <a:xfrm>
            <a:off x="609480" y="4397400"/>
            <a:ext cx="6717240" cy="181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Need a method with </a:t>
            </a: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Arial"/>
              </a:rPr>
              <a:t>higher accuracy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but with </a:t>
            </a: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Arial"/>
              </a:rPr>
              <a:t>better runtime scaling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specifically for small-scale problems.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97;p18"/>
          <p:cNvPicPr/>
          <p:nvPr/>
        </p:nvPicPr>
        <p:blipFill>
          <a:blip r:embed="rId1"/>
          <a:stretch/>
        </p:blipFill>
        <p:spPr>
          <a:xfrm>
            <a:off x="7471080" y="2543040"/>
            <a:ext cx="3200040" cy="304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Box 3"/>
          <p:cNvSpPr/>
          <p:nvPr/>
        </p:nvSpPr>
        <p:spPr>
          <a:xfrm>
            <a:off x="609480" y="6275520"/>
            <a:ext cx="108334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1199"/>
              </a:spcAft>
            </a:pPr>
            <a:r>
              <a:rPr lang="en-US" sz="1400" b="0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</a:rPr>
              <a:t>Garey and Johnson, The Rectilinear Steiner Tree Problem is NP-Complete, SIAM J. Appl. Math., vol. 32, no. 4, pp. 826–834, 1977.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DFA38DA-7588-45C8-919F-498CB9C7D000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" dur="indefinite" restart="never" nodeType="tmRoot">
          <p:childTnLst>
            <p:seq>
              <p:cTn id="24" dur="indefinite" nodeType="mainSeq"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480" y="-1512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Scaling to More Terminals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4"/>
          <p:cNvSpPr/>
          <p:nvPr/>
        </p:nvSpPr>
        <p:spPr>
          <a:xfrm>
            <a:off x="609480" y="2345040"/>
            <a:ext cx="1060056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RCNNs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have shown </a:t>
            </a: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success in solving more complex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problems through </a:t>
            </a: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recurrence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during testing.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5"/>
          <p:cNvSpPr/>
          <p:nvPr/>
        </p:nvSpPr>
        <p:spPr>
          <a:xfrm>
            <a:off x="609480" y="1200600"/>
            <a:ext cx="1060056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B050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Optimal shortest solutions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are feasible for few terminals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not true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higher number of terminals.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Picture 2"/>
          <p:cNvPicPr/>
          <p:nvPr/>
        </p:nvPicPr>
        <p:blipFill>
          <a:blip r:embed="rId1"/>
          <a:srcRect l="0" t="30305" r="0" b="0"/>
          <a:stretch/>
        </p:blipFill>
        <p:spPr>
          <a:xfrm>
            <a:off x="2766600" y="3654000"/>
            <a:ext cx="6658200" cy="21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TextBox 6"/>
          <p:cNvSpPr/>
          <p:nvPr/>
        </p:nvSpPr>
        <p:spPr>
          <a:xfrm>
            <a:off x="423720" y="6231240"/>
            <a:ext cx="109724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1199"/>
              </a:spcAft>
            </a:pPr>
            <a:r>
              <a:rPr lang="en-US" sz="1400" b="0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</a:rPr>
              <a:t>Bansal </a:t>
            </a:r>
            <a:r>
              <a:rPr lang="en-US" sz="1400" b="0" i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</a:rPr>
              <a:t>et al.</a:t>
            </a:r>
            <a:r>
              <a:rPr lang="en-US" sz="1400" b="0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</a:rPr>
              <a:t> (2022) propose end-to-end algorithm synthesis with recurrent networks to achieve logical extrapolation without overthinking.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49AE2829-66F0-4E2D-A2D7-A8DF42DC64C7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09480" y="1224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Challenge: Limited Data for Supervised Learning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4" name="Picture 2"/>
          <p:cNvPicPr/>
          <p:nvPr/>
        </p:nvPicPr>
        <p:blipFill>
          <a:blip r:embed="rId1"/>
          <a:stretch/>
        </p:blipFill>
        <p:spPr>
          <a:xfrm>
            <a:off x="6494040" y="3139200"/>
            <a:ext cx="4320360" cy="243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extBox 3"/>
          <p:cNvSpPr/>
          <p:nvPr/>
        </p:nvSpPr>
        <p:spPr>
          <a:xfrm>
            <a:off x="504720" y="2400480"/>
            <a:ext cx="1090692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Public datasets like </a:t>
            </a: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Arial"/>
              </a:rPr>
              <a:t>Zillow Indoor Dataset (ZInD)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offer only a 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limited number of floorplans.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4"/>
          <p:cNvSpPr/>
          <p:nvPr/>
        </p:nvSpPr>
        <p:spPr>
          <a:xfrm>
            <a:off x="504720" y="1230840"/>
            <a:ext cx="1090692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Supervised learning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requires a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large, labeled dataset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effective model training.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5"/>
          <p:cNvSpPr/>
          <p:nvPr/>
        </p:nvSpPr>
        <p:spPr>
          <a:xfrm>
            <a:off x="504720" y="3570120"/>
            <a:ext cx="5988600" cy="13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To overcome this, we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generate our own large-scale dataset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of synthetic data.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6"/>
          <p:cNvSpPr/>
          <p:nvPr/>
        </p:nvSpPr>
        <p:spPr>
          <a:xfrm>
            <a:off x="1238400" y="6231240"/>
            <a:ext cx="97153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1199"/>
              </a:spcAft>
            </a:pPr>
            <a:r>
              <a:rPr lang="en-US" sz="1400" b="0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</a:rPr>
              <a:t>Cruz </a:t>
            </a:r>
            <a:r>
              <a:rPr lang="en-US" sz="1400" b="0" i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</a:rPr>
              <a:t>et al.</a:t>
            </a:r>
            <a:r>
              <a:rPr lang="en-US" sz="1400" b="0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</a:rPr>
              <a:t>, </a:t>
            </a:r>
            <a:r>
              <a:rPr lang="en-US" sz="1400" b="0" i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</a:rPr>
              <a:t>Zillow Indoor Dataset: Annotated Floor Plans With 360º Panoramas and 3D Room Layouts</a:t>
            </a:r>
            <a:r>
              <a:rPr lang="en-US" sz="1400" b="0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</a:rPr>
              <a:t>, CVPR 2021.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8096AF0-951B-4388-BBF1-40F652BBA08B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Picture 2"/>
          <p:cNvPicPr/>
          <p:nvPr/>
        </p:nvPicPr>
        <p:blipFill>
          <a:blip r:embed="rId1"/>
          <a:stretch/>
        </p:blipFill>
        <p:spPr>
          <a:xfrm>
            <a:off x="3016800" y="3444840"/>
            <a:ext cx="2337120" cy="235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Picture 4"/>
          <p:cNvPicPr/>
          <p:nvPr/>
        </p:nvPicPr>
        <p:blipFill>
          <a:blip r:embed="rId2"/>
          <a:stretch/>
        </p:blipFill>
        <p:spPr>
          <a:xfrm>
            <a:off x="3016800" y="3414960"/>
            <a:ext cx="2358720" cy="235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Picture 6" descr="A white line on a black background&#10;&#10;AI-generated content may be incorrect."/>
          <p:cNvPicPr/>
          <p:nvPr/>
        </p:nvPicPr>
        <p:blipFill>
          <a:blip r:embed="rId3"/>
          <a:stretch/>
        </p:blipFill>
        <p:spPr>
          <a:xfrm>
            <a:off x="3013200" y="3422160"/>
            <a:ext cx="2358720" cy="235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609480" y="28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Graph-Based Image Generation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3" name="Picture 7"/>
          <p:cNvPicPr/>
          <p:nvPr/>
        </p:nvPicPr>
        <p:blipFill>
          <a:blip r:embed="rId4"/>
          <a:stretch/>
        </p:blipFill>
        <p:spPr>
          <a:xfrm>
            <a:off x="6095880" y="3446280"/>
            <a:ext cx="2361960" cy="23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TextBox 8"/>
          <p:cNvSpPr/>
          <p:nvPr/>
        </p:nvSpPr>
        <p:spPr>
          <a:xfrm>
            <a:off x="448200" y="1160280"/>
            <a:ext cx="1097244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Create synthetic images by first </a:t>
            </a: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Arial"/>
              </a:rPr>
              <a:t>generating the underlying graph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structure, then rendering it as a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2D image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9"/>
          <p:cNvSpPr/>
          <p:nvPr/>
        </p:nvSpPr>
        <p:spPr>
          <a:xfrm>
            <a:off x="448200" y="2212920"/>
            <a:ext cx="1027584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Solve the desired task on the graph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to produce </a:t>
            </a:r>
            <a:r>
              <a:rPr lang="en-US" sz="2800" b="1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ground truth labels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paired with each input image.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6" name="Straight Arrow Connector 4"/>
          <p:cNvCxnSpPr/>
          <p:nvPr/>
        </p:nvCxnSpPr>
        <p:spPr>
          <a:xfrm>
            <a:off x="5375880" y="4622760"/>
            <a:ext cx="741960" cy="360"/>
          </a:xfrm>
          <a:prstGeom prst="straightConnector1">
            <a:avLst/>
          </a:prstGeom>
          <a:ln w="63500">
            <a:solidFill>
              <a:srgbClr val="FF0000"/>
            </a:solidFill>
            <a:round/>
            <a:tailEnd len="med" type="triangle" w="med"/>
          </a:ln>
        </p:spPr>
      </p:cxnSp>
      <p:sp>
        <p:nvSpPr>
          <p:cNvPr id="147" name="TextBox 3"/>
          <p:cNvSpPr/>
          <p:nvPr/>
        </p:nvSpPr>
        <p:spPr>
          <a:xfrm>
            <a:off x="367560" y="6149160"/>
            <a:ext cx="1105308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1199"/>
              </a:spcAft>
            </a:pPr>
            <a:r>
              <a:rPr lang="en-US" sz="1400" b="0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</a:rPr>
              <a:t>Sibeyn, Kaufmann, and Vahrenhold, Generating Maze-Like Graphs for Testing Pathfinding Algorithms, in Algorithms and Data Structures, Springer, 2001, pp. 419–431.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765C7BE6-B9C2-4D4B-BC11-60F5768F9ABD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" dur="indefinite" restart="never" nodeType="tmRoot">
          <p:childTnLst>
            <p:seq>
              <p:cTn id="30" dur="indefinite" nodeType="mainSeq">
                <p:childTnLst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5" dur="2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4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22;p21"/>
          <p:cNvPicPr/>
          <p:nvPr/>
        </p:nvPicPr>
        <p:blipFill>
          <a:blip r:embed="rId1"/>
          <a:stretch/>
        </p:blipFill>
        <p:spPr>
          <a:xfrm>
            <a:off x="1002600" y="837720"/>
            <a:ext cx="10015560" cy="258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09480" y="28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Challenge: Limitations of Initial Architecture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4"/>
          <p:cNvSpPr/>
          <p:nvPr/>
        </p:nvSpPr>
        <p:spPr>
          <a:xfrm>
            <a:off x="609480" y="3429000"/>
            <a:ext cx="1097244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Similar-cost paths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caused oscillations; this examples are also 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problematic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for approximation algorithms.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7"/>
          <p:cNvSpPr/>
          <p:nvPr/>
        </p:nvSpPr>
        <p:spPr>
          <a:xfrm>
            <a:off x="609480" y="4487760"/>
            <a:ext cx="1080144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Predefined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number of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recurrent iterations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; running too long led to 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divergence.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8"/>
          <p:cNvSpPr/>
          <p:nvPr/>
        </p:nvSpPr>
        <p:spPr>
          <a:xfrm>
            <a:off x="621000" y="5546880"/>
            <a:ext cx="1079028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Near-black solutions were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penalized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as incomplete due to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minor pixel deviations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D48A8EFB-7F23-4318-ACD6-7C793E00508A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5" dur="indefinite" restart="never" nodeType="tmRoot">
          <p:childTnLst>
            <p:seq>
              <p:cTn id="46" dur="indefinite" nodeType="mainSeq">
                <p:childTnLst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1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7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8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3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609480" y="28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Proposed Solution: MazeNet with a Termination Condition (TC) Module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54" name="Google Shape;114;p20"/>
          <p:cNvPicPr/>
          <p:nvPr/>
        </p:nvPicPr>
        <p:blipFill>
          <a:blip r:embed="rId1"/>
          <a:stretch/>
        </p:blipFill>
        <p:spPr>
          <a:xfrm>
            <a:off x="2639520" y="1721520"/>
            <a:ext cx="6629040" cy="30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Oval 4"/>
          <p:cNvSpPr/>
          <p:nvPr/>
        </p:nvSpPr>
        <p:spPr>
          <a:xfrm>
            <a:off x="4805640" y="1427760"/>
            <a:ext cx="4495320" cy="1066320"/>
          </a:xfrm>
          <a:prstGeom prst="ellipse">
            <a:avLst/>
          </a:prstGeom>
          <a:noFill/>
          <a:ln w="5080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5"/>
          <p:cNvSpPr/>
          <p:nvPr/>
        </p:nvSpPr>
        <p:spPr>
          <a:xfrm>
            <a:off x="9346680" y="1545840"/>
            <a:ext cx="181728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Novel Contribution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7"/>
          <p:cNvSpPr/>
          <p:nvPr/>
        </p:nvSpPr>
        <p:spPr>
          <a:xfrm>
            <a:off x="609480" y="4826520"/>
            <a:ext cx="1068876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Introduce a </a:t>
            </a:r>
            <a:r>
              <a:rPr lang="en-US" sz="2800" b="1" u="none" strike="noStrike">
                <a:solidFill>
                  <a:srgbClr val="00B050"/>
                </a:solidFill>
                <a:effectLst/>
                <a:uFillTx/>
                <a:latin typeface="Calibri"/>
              </a:rPr>
              <a:t>CPU search-based </a:t>
            </a:r>
            <a:r>
              <a:rPr lang="en-US" sz="2800" b="1" u="sng" strike="noStrike">
                <a:solidFill>
                  <a:srgbClr val="00B050"/>
                </a:solidFill>
                <a:effectLst/>
                <a:uFillTx/>
                <a:latin typeface="Calibri"/>
              </a:rPr>
              <a:t>termination condition (TC)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block to </a:t>
            </a:r>
            <a:r>
              <a:rPr lang="en-US" sz="2800" b="1" u="none" strike="noStrike">
                <a:solidFill>
                  <a:srgbClr val="0000FF"/>
                </a:solidFill>
                <a:effectLst/>
                <a:uFillTx/>
                <a:latin typeface="Calibri"/>
              </a:rPr>
              <a:t>maximize accuracy, minimize runtimes and clean output.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10"/>
          <p:cNvSpPr/>
          <p:nvPr/>
        </p:nvSpPr>
        <p:spPr>
          <a:xfrm>
            <a:off x="609480" y="6057360"/>
            <a:ext cx="1081548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</a:rPr>
              <a:t>G. Díaz-Ramos, T. Arikan, and R. G. Baraniuk. “MazeNet: An Accurate, Fast, and Scalable Deep Learning Solution for Steiner Minimum Trees”, 2024, arXiv:2410.18832.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5076ABF-BB91-4FD6-A121-85E180BF7C0D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5" dur="indefinite" restart="never" nodeType="tmRoot">
          <p:childTnLst>
            <p:seq>
              <p:cTn id="66" dur="indefinite" nodeType="mainSeq">
                <p:childTnLst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09480" y="-612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TC Module in Action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60" name="Google Shape;123;p21"/>
          <p:cNvPicPr/>
          <p:nvPr/>
        </p:nvPicPr>
        <p:blipFill>
          <a:blip r:embed="rId1"/>
          <a:srcRect l="0" t="0" r="21740" b="0"/>
          <a:stretch/>
        </p:blipFill>
        <p:spPr>
          <a:xfrm>
            <a:off x="609480" y="966960"/>
            <a:ext cx="8560440" cy="258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" name="Picture 6"/>
          <p:cNvPicPr/>
          <p:nvPr/>
        </p:nvPicPr>
        <p:blipFill>
          <a:blip r:embed="rId2"/>
          <a:stretch/>
        </p:blipFill>
        <p:spPr>
          <a:xfrm>
            <a:off x="9178560" y="1306800"/>
            <a:ext cx="2066400" cy="20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TextBox 7"/>
          <p:cNvSpPr/>
          <p:nvPr/>
        </p:nvSpPr>
        <p:spPr>
          <a:xfrm>
            <a:off x="773640" y="3502080"/>
            <a:ext cx="1003212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B050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Achieves </a:t>
            </a:r>
            <a:r>
              <a:rPr lang="en-US" sz="2800" b="1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optimal shortest solutions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across all test sets,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even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with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more terminals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than trained on.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8"/>
          <p:cNvSpPr/>
          <p:nvPr/>
        </p:nvSpPr>
        <p:spPr>
          <a:xfrm>
            <a:off x="773640" y="4597200"/>
            <a:ext cx="1003212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Generates </a:t>
            </a: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Arial"/>
              </a:rPr>
              <a:t>clean outputs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usable as filters in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real floorplan tasks.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Picture 9" descr="A black and white rectangular object with green dots&#10;&#10;AI-generated content may be incorrect."/>
          <p:cNvPicPr/>
          <p:nvPr/>
        </p:nvPicPr>
        <p:blipFill>
          <a:blip r:embed="rId3"/>
          <a:srcRect l="4640" t="1790" r="957" b="1790"/>
          <a:stretch/>
        </p:blipFill>
        <p:spPr>
          <a:xfrm>
            <a:off x="3821400" y="979200"/>
            <a:ext cx="4548600" cy="251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5" name="Picture 5" descr="A black and white maze with green squares&#10;&#10;AI-generated content may be incorrect."/>
          <p:cNvPicPr/>
          <p:nvPr/>
        </p:nvPicPr>
        <p:blipFill>
          <a:blip r:embed="rId4"/>
          <a:srcRect l="4143" t="1526" r="1475" b="1614"/>
          <a:stretch/>
        </p:blipFill>
        <p:spPr>
          <a:xfrm>
            <a:off x="3821400" y="960480"/>
            <a:ext cx="4544640" cy="254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4BF8368-C260-4448-BF1D-B27CEAE601BF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3" dur="indefinite" restart="never" nodeType="tmRoot">
          <p:childTnLst>
            <p:seq>
              <p:cTn id="74" dur="indefinite" nodeType="mainSeq">
                <p:childTnLst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3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609480" y="28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Preview of Results on Synthetic Mazes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3"/>
          <p:cNvSpPr/>
          <p:nvPr/>
        </p:nvSpPr>
        <p:spPr>
          <a:xfrm>
            <a:off x="523080" y="2635920"/>
            <a:ext cx="1090692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FF3399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FF3399"/>
                </a:solidFill>
                <a:effectLst/>
                <a:uFillTx/>
                <a:latin typeface="Arial"/>
              </a:rPr>
              <a:t>Mehlhorn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lang="en-US" sz="2800" b="1" u="none" strike="noStrike">
                <a:solidFill>
                  <a:srgbClr val="FF9933"/>
                </a:solidFill>
                <a:effectLst/>
                <a:uFillTx/>
                <a:latin typeface="Arial"/>
              </a:rPr>
              <a:t>Kou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and </a:t>
            </a:r>
            <a:r>
              <a:rPr lang="en-US" sz="2800" b="1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Wavefront MST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algorithms are approximations and are prone to mistakes.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4"/>
          <p:cNvSpPr/>
          <p:nvPr/>
        </p:nvSpPr>
        <p:spPr>
          <a:xfrm>
            <a:off x="523080" y="1466280"/>
            <a:ext cx="1090692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Dijkstra's exhaustive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a permutation-based algorithm with exponential runtime scaling but optimal shortest.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6"/>
          <p:cNvSpPr/>
          <p:nvPr/>
        </p:nvSpPr>
        <p:spPr>
          <a:xfrm>
            <a:off x="523080" y="4806000"/>
            <a:ext cx="1090692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Accuracy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defined as number of trials in test set where optimal shortest path has been reached over total number of trials.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7"/>
          <p:cNvSpPr/>
          <p:nvPr/>
        </p:nvSpPr>
        <p:spPr>
          <a:xfrm>
            <a:off x="523080" y="3720960"/>
            <a:ext cx="1090692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70C0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0070C0"/>
                </a:solidFill>
                <a:effectLst/>
                <a:uFillTx/>
                <a:latin typeface="Arial"/>
              </a:rPr>
              <a:t>MazeNet</a:t>
            </a: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Arial"/>
              </a:rPr>
              <a:t>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is our method that we are testing in both runtime and accuracy.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3C4705FA-8901-4205-9FE4-481BF1D3FCA9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342720" y="12960"/>
            <a:ext cx="1150596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MazeNet Results on Synthetic Mazes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7"/>
          <p:cNvSpPr/>
          <p:nvPr/>
        </p:nvSpPr>
        <p:spPr>
          <a:xfrm>
            <a:off x="305640" y="1015920"/>
            <a:ext cx="5790240" cy="22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FF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Competitive runtimes and scaling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are attained.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5"/>
          <p:cNvSpPr/>
          <p:nvPr/>
        </p:nvSpPr>
        <p:spPr>
          <a:xfrm>
            <a:off x="3022920" y="5359320"/>
            <a:ext cx="2780280" cy="12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Accuracy (%) over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10,000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trials: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" name="Picture 3" descr="A graph of different colored lines&#10;&#10;AI-generated content may be incorrect."/>
          <p:cNvPicPr/>
          <p:nvPr/>
        </p:nvPicPr>
        <p:blipFill>
          <a:blip r:embed="rId1"/>
          <a:stretch/>
        </p:blipFill>
        <p:spPr>
          <a:xfrm>
            <a:off x="6068880" y="947160"/>
            <a:ext cx="4732920" cy="374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" name="Picture 2"/>
          <p:cNvPicPr/>
          <p:nvPr/>
        </p:nvPicPr>
        <p:blipFill>
          <a:blip r:embed="rId2"/>
          <a:stretch/>
        </p:blipFill>
        <p:spPr>
          <a:xfrm>
            <a:off x="5803560" y="4691880"/>
            <a:ext cx="5268240" cy="208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PlaceHolder 2"/>
          <p:cNvSpPr>
            <a:spLocks noGrp="1"/>
          </p:cNvSpPr>
          <p:nvPr>
            <p:ph type="sldNum" idx="40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3CBFDC-4A14-4A1F-AC06-A325E0E22C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TextBox 6"/>
          <p:cNvSpPr/>
          <p:nvPr/>
        </p:nvSpPr>
        <p:spPr>
          <a:xfrm>
            <a:off x="305640" y="3352320"/>
            <a:ext cx="6097320" cy="13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Results are valid for mazes and indoor environments; 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not for general OARMST problems.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9"/>
          <p:cNvSpPr/>
          <p:nvPr/>
        </p:nvSpPr>
        <p:spPr>
          <a:xfrm>
            <a:off x="305640" y="2158920"/>
            <a:ext cx="609732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B050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State of the art accuracy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</a:t>
            </a: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Arial"/>
              </a:rPr>
              <a:t>small OARMST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problems.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11"/>
          <p:cNvSpPr/>
          <p:nvPr/>
        </p:nvSpPr>
        <p:spPr>
          <a:xfrm rot="16200000">
            <a:off x="8290800" y="3224160"/>
            <a:ext cx="336960" cy="5036400"/>
          </a:xfrm>
          <a:prstGeom prst="rect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Rectangle 10"/>
          <p:cNvSpPr/>
          <p:nvPr/>
        </p:nvSpPr>
        <p:spPr>
          <a:xfrm rot="16200000">
            <a:off x="8279280" y="2849040"/>
            <a:ext cx="364680" cy="5036400"/>
          </a:xfrm>
          <a:prstGeom prst="rect">
            <a:avLst/>
          </a:prstGeom>
          <a:noFill/>
          <a:ln>
            <a:solidFill>
              <a:srgbClr val="00B0F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1" dur="indefinite" restart="never" nodeType="tmRoot">
          <p:childTnLst>
            <p:seq>
              <p:cTn id="102" dur="indefinite" nodeType="mainSeq">
                <p:childTnLst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0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3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8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342720" y="3600"/>
            <a:ext cx="1150596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Transitioning to Real Floorplans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10"/>
          <p:cNvSpPr/>
          <p:nvPr/>
        </p:nvSpPr>
        <p:spPr>
          <a:xfrm>
            <a:off x="285480" y="2003040"/>
            <a:ext cx="681984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MazeNet finds the </a:t>
            </a:r>
            <a:r>
              <a:rPr lang="en-US" sz="2800" b="1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shortest path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even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on coarsely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discretized floorplans.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8"/>
          <p:cNvSpPr/>
          <p:nvPr/>
        </p:nvSpPr>
        <p:spPr>
          <a:xfrm>
            <a:off x="285480" y="3159720"/>
            <a:ext cx="631188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457200" defTabSz="91440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Approximate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methods 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can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still 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miss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the shortest path.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1"/>
          <p:cNvSpPr/>
          <p:nvPr/>
        </p:nvSpPr>
        <p:spPr>
          <a:xfrm>
            <a:off x="285480" y="4316760"/>
            <a:ext cx="690192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Even with </a:t>
            </a: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Arial"/>
              </a:rPr>
              <a:t>under 200 nodes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</a:t>
            </a: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Arial"/>
              </a:rPr>
              <a:t>just 5 terminals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they can fail.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2"/>
          <p:cNvSpPr/>
          <p:nvPr/>
        </p:nvSpPr>
        <p:spPr>
          <a:xfrm>
            <a:off x="8280000" y="3530520"/>
            <a:ext cx="17935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Optimal solution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sldNum" idx="41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25613B-D227-4150-AD18-B55BDB0575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87" name="Group 13"/>
          <p:cNvGrpSpPr/>
          <p:nvPr/>
        </p:nvGrpSpPr>
        <p:grpSpPr>
          <a:xfrm>
            <a:off x="7273080" y="3994200"/>
            <a:ext cx="3785040" cy="2405160"/>
            <a:chOff x="7273080" y="3994200"/>
            <a:chExt cx="3785040" cy="2405160"/>
          </a:xfrm>
        </p:grpSpPr>
        <p:sp>
          <p:nvSpPr>
            <p:cNvPr id="188" name="TextBox 3"/>
            <p:cNvSpPr/>
            <p:nvPr/>
          </p:nvSpPr>
          <p:spPr>
            <a:xfrm>
              <a:off x="8104320" y="6030360"/>
              <a:ext cx="212616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Suboptimal solution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89" name="Picture 11" descr="A maze of buildings with green dots&#10;&#10;AI-generated content may be incorrect."/>
            <p:cNvPicPr/>
            <p:nvPr/>
          </p:nvPicPr>
          <p:blipFill>
            <a:blip r:embed="rId1"/>
            <a:stretch/>
          </p:blipFill>
          <p:spPr>
            <a:xfrm>
              <a:off x="7273080" y="3994200"/>
              <a:ext cx="3785040" cy="209376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90" name="Picture 15" descr="A black and white map&#10;&#10;AI-generated content may be incorrect."/>
          <p:cNvPicPr/>
          <p:nvPr/>
        </p:nvPicPr>
        <p:blipFill>
          <a:blip r:embed="rId2"/>
          <a:stretch/>
        </p:blipFill>
        <p:spPr>
          <a:xfrm>
            <a:off x="7282440" y="1464120"/>
            <a:ext cx="3785040" cy="209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Picture 6" descr="A black and white image of a building&#10;&#10;AI-generated content may be incorrect."/>
          <p:cNvPicPr/>
          <p:nvPr/>
        </p:nvPicPr>
        <p:blipFill>
          <a:blip r:embed="rId3"/>
          <a:srcRect l="907" t="1182" r="824" b="1373"/>
          <a:stretch/>
        </p:blipFill>
        <p:spPr>
          <a:xfrm>
            <a:off x="7282440" y="1474560"/>
            <a:ext cx="3785400" cy="208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" name="Picture 5" descr="A black and white maze with green squares&#10;&#10;AI-generated content may be incorrect."/>
          <p:cNvPicPr/>
          <p:nvPr/>
        </p:nvPicPr>
        <p:blipFill>
          <a:blip r:embed="rId4"/>
          <a:srcRect l="4143" t="1526" r="1475" b="1614"/>
          <a:stretch/>
        </p:blipFill>
        <p:spPr>
          <a:xfrm>
            <a:off x="7282440" y="1484640"/>
            <a:ext cx="3775680" cy="204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" name="Picture 9" descr="A black and white rectangular object with green dots&#10;&#10;AI-generated content may be incorrect."/>
          <p:cNvPicPr/>
          <p:nvPr/>
        </p:nvPicPr>
        <p:blipFill>
          <a:blip r:embed="rId5"/>
          <a:stretch/>
        </p:blipFill>
        <p:spPr>
          <a:xfrm>
            <a:off x="7282080" y="1484640"/>
            <a:ext cx="3785040" cy="2073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9" dur="indefinite" restart="never" nodeType="tmRoot">
          <p:childTnLst>
            <p:seq>
              <p:cTn id="130" dur="indefinite" nodeType="mainSeq">
                <p:childTnLst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5"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609480" y="28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Comparison Setup: What We Measure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3"/>
          <p:cNvSpPr/>
          <p:nvPr/>
        </p:nvSpPr>
        <p:spPr>
          <a:xfrm>
            <a:off x="688680" y="1107360"/>
            <a:ext cx="997884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We compare </a:t>
            </a: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runtime and path length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of path planning algorithms using three approaches: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Picture 10" descr="A yellow and blue square with black text&#10;&#10;AI-generated content may be incorrect."/>
          <p:cNvPicPr/>
          <p:nvPr/>
        </p:nvPicPr>
        <p:blipFill>
          <a:blip r:embed="rId1"/>
          <a:stretch/>
        </p:blipFill>
        <p:spPr>
          <a:xfrm>
            <a:off x="1604520" y="2332800"/>
            <a:ext cx="8982720" cy="128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Picture 15" descr="A diagram of a process&#10;&#10;AI-generated content may be incorrect."/>
          <p:cNvPicPr/>
          <p:nvPr/>
        </p:nvPicPr>
        <p:blipFill>
          <a:blip r:embed="rId2"/>
          <a:stretch/>
        </p:blipFill>
        <p:spPr>
          <a:xfrm>
            <a:off x="1523520" y="2315520"/>
            <a:ext cx="9163800" cy="384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" name="Picture 14" descr="A diagram of a process&#10;&#10;AI-generated content may be incorrect."/>
          <p:cNvPicPr/>
          <p:nvPr/>
        </p:nvPicPr>
        <p:blipFill>
          <a:blip r:embed="rId3"/>
          <a:stretch/>
        </p:blipFill>
        <p:spPr>
          <a:xfrm>
            <a:off x="1559880" y="2332800"/>
            <a:ext cx="9063000" cy="37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D22B7A95-5CF0-4E11-BE4C-968154CDE0C4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4" dur="indefinite" restart="never" nodeType="tmRoot">
          <p:childTnLst>
            <p:seq>
              <p:cTn id="145" dur="indefinite" nodeType="mainSeq">
                <p:childTnLst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342720" y="-14400"/>
            <a:ext cx="1150596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Visualization of Path Planning with MazeNet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8"/>
          <p:cNvSpPr/>
          <p:nvPr/>
        </p:nvSpPr>
        <p:spPr>
          <a:xfrm>
            <a:off x="275760" y="4812840"/>
            <a:ext cx="11640240" cy="13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Robotic path planning algorithms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(A*) </a:t>
            </a:r>
            <a:r>
              <a:rPr lang="en-US" sz="2800" b="1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run faster when using our MazeNet-based front-end.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Alternative filtering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methods result in 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longer paths.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sldNum" idx="4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DA3244-9C0E-4F9A-9953-05A4CE7559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2" name="Picture 3"/>
          <p:cNvPicPr/>
          <p:nvPr/>
        </p:nvPicPr>
        <p:blipFill>
          <a:blip r:embed="rId1"/>
          <a:stretch/>
        </p:blipFill>
        <p:spPr>
          <a:xfrm>
            <a:off x="2814120" y="981000"/>
            <a:ext cx="6563160" cy="367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3" name="Picture 5" descr="A black and white rectangular object with green dots&#10;&#10;AI-generated content may be incorrect."/>
          <p:cNvPicPr/>
          <p:nvPr/>
        </p:nvPicPr>
        <p:blipFill>
          <a:blip r:embed="rId2"/>
          <a:stretch/>
        </p:blipFill>
        <p:spPr>
          <a:xfrm>
            <a:off x="2814120" y="981000"/>
            <a:ext cx="6563160" cy="367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4" name="Picture 4" descr="A black and white map with blue lines&#10;&#10;AI-generated content may be incorrect."/>
          <p:cNvPicPr/>
          <p:nvPr/>
        </p:nvPicPr>
        <p:blipFill>
          <a:blip r:embed="rId3"/>
          <a:stretch/>
        </p:blipFill>
        <p:spPr>
          <a:xfrm>
            <a:off x="2814120" y="981000"/>
            <a:ext cx="6563160" cy="3673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4" dur="indefinite" restart="never" nodeType="tmRoot">
          <p:childTnLst>
            <p:seq>
              <p:cTn id="155" dur="indefinite" nodeType="mainSeq">
                <p:childTnLst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609480" y="28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Results on Floorplans – Length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Box 12"/>
          <p:cNvSpPr/>
          <p:nvPr/>
        </p:nvSpPr>
        <p:spPr>
          <a:xfrm>
            <a:off x="169200" y="2849400"/>
            <a:ext cx="11474640" cy="13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457200" defTabSz="914400">
              <a:lnSpc>
                <a:spcPct val="100000"/>
              </a:lnSpc>
              <a:buClr>
                <a:srgbClr val="00B0F0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Arial"/>
              </a:rPr>
              <a:t>RRT* benefits from any form of spatial constraint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due to its random sampling nature, but </a:t>
            </a:r>
            <a:r>
              <a:rPr lang="en-US" sz="2800" b="1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MazeNet provides the greatest advantage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with about 13% length reduction.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13"/>
          <p:cNvSpPr/>
          <p:nvPr/>
        </p:nvSpPr>
        <p:spPr>
          <a:xfrm>
            <a:off x="169200" y="1188360"/>
            <a:ext cx="11034360" cy="13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457200" defTabSz="91440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A* suffers when using approximation filters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— path lengths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increase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compared to planning on the original floorplan. In contrast, </a:t>
            </a:r>
            <a:r>
              <a:rPr lang="en-US" sz="2800" b="1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MazeNet maintains path length.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14"/>
          <p:cNvSpPr/>
          <p:nvPr/>
        </p:nvSpPr>
        <p:spPr>
          <a:xfrm>
            <a:off x="169200" y="4510440"/>
            <a:ext cx="5926320" cy="13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457200" defTabSz="914400">
              <a:lnSpc>
                <a:spcPct val="100000"/>
              </a:lnSpc>
              <a:buClr>
                <a:srgbClr val="00B0F0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Arial"/>
              </a:rPr>
              <a:t>ARA*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provides a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high-quality first guess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with a </a:t>
            </a:r>
            <a:r>
              <a:rPr lang="en-US" sz="2800" b="1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2% path length reduction.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9" name="Group 10"/>
          <p:cNvGrpSpPr/>
          <p:nvPr/>
        </p:nvGrpSpPr>
        <p:grpSpPr>
          <a:xfrm>
            <a:off x="5678280" y="4288680"/>
            <a:ext cx="5478480" cy="2437200"/>
            <a:chOff x="5678280" y="4288680"/>
            <a:chExt cx="5478480" cy="2437200"/>
          </a:xfrm>
        </p:grpSpPr>
        <p:pic>
          <p:nvPicPr>
            <p:cNvPr id="210" name="Picture 6"/>
            <p:cNvPicPr/>
            <p:nvPr/>
          </p:nvPicPr>
          <p:blipFill>
            <a:blip r:embed="rId1"/>
            <a:stretch/>
          </p:blipFill>
          <p:spPr>
            <a:xfrm>
              <a:off x="5698080" y="4906440"/>
              <a:ext cx="5458680" cy="1819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11" name="TextBox 8"/>
            <p:cNvSpPr/>
            <p:nvPr/>
          </p:nvSpPr>
          <p:spPr>
            <a:xfrm>
              <a:off x="5678280" y="4288680"/>
              <a:ext cx="5322240" cy="6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18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Percentage Length Increase (%) with respect to Original Floorplan Conditioned on Approximation Mistakes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2" name="Rectangle 4"/>
          <p:cNvSpPr/>
          <p:nvPr/>
        </p:nvSpPr>
        <p:spPr>
          <a:xfrm rot="16200000">
            <a:off x="8531640" y="3233520"/>
            <a:ext cx="837000" cy="4323960"/>
          </a:xfrm>
          <a:prstGeom prst="rect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Rectangle 3"/>
          <p:cNvSpPr/>
          <p:nvPr/>
        </p:nvSpPr>
        <p:spPr>
          <a:xfrm>
            <a:off x="6810480" y="4989240"/>
            <a:ext cx="983880" cy="1668240"/>
          </a:xfrm>
          <a:prstGeom prst="rect">
            <a:avLst/>
          </a:prstGeom>
          <a:noFill/>
          <a:ln>
            <a:solidFill>
              <a:srgbClr val="00B0F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BA2B4DE-478F-4A36-95A9-6C5EF2DBBA20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4" dur="indefinite" restart="never" nodeType="tmRoot">
          <p:childTnLst>
            <p:seq>
              <p:cTn id="165" dur="indefinite" nodeType="mainSeq">
                <p:childTnLst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0"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5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80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Num" idx="43"/>
          </p:nvPr>
        </p:nvSpPr>
        <p:spPr>
          <a:xfrm>
            <a:off x="8737560" y="640080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637A1E-61AD-4FC0-AB57-F903FF5938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title"/>
          </p:nvPr>
        </p:nvSpPr>
        <p:spPr>
          <a:xfrm>
            <a:off x="496800" y="-360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Results on Floorplans – Runtime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17"/>
          <p:cNvSpPr/>
          <p:nvPr/>
        </p:nvSpPr>
        <p:spPr>
          <a:xfrm>
            <a:off x="358200" y="1254960"/>
            <a:ext cx="1147536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All filters </a:t>
            </a: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Arial"/>
              </a:rPr>
              <a:t>reduce runtime at around 30%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compared to planning on the original floorplan but </a:t>
            </a:r>
            <a:r>
              <a:rPr lang="en-US" sz="2800" b="1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MazeNet does not increase path length.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18"/>
          <p:cNvSpPr/>
          <p:nvPr/>
        </p:nvSpPr>
        <p:spPr>
          <a:xfrm>
            <a:off x="343080" y="2280960"/>
            <a:ext cx="1147536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Approximation filters reduce time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but at the cost of significantly 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longer paths</a:t>
            </a: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5"/>
          <p:cNvSpPr/>
          <p:nvPr/>
        </p:nvSpPr>
        <p:spPr>
          <a:xfrm>
            <a:off x="343080" y="3317040"/>
            <a:ext cx="114753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B050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MazeNet</a:t>
            </a:r>
            <a:r>
              <a:rPr lang="en-US" sz="28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maintains path length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while still </a:t>
            </a:r>
            <a:r>
              <a:rPr lang="en-US" sz="2800" b="1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improving runtime.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9" name="Group 12"/>
          <p:cNvGrpSpPr/>
          <p:nvPr/>
        </p:nvGrpSpPr>
        <p:grpSpPr>
          <a:xfrm>
            <a:off x="5861160" y="4072680"/>
            <a:ext cx="5608080" cy="2413440"/>
            <a:chOff x="5861160" y="4072680"/>
            <a:chExt cx="5608080" cy="2413440"/>
          </a:xfrm>
        </p:grpSpPr>
        <p:pic>
          <p:nvPicPr>
            <p:cNvPr id="220" name="Picture 11"/>
            <p:cNvPicPr/>
            <p:nvPr/>
          </p:nvPicPr>
          <p:blipFill>
            <a:blip r:embed="rId1"/>
            <a:stretch/>
          </p:blipFill>
          <p:spPr>
            <a:xfrm>
              <a:off x="5973840" y="4716720"/>
              <a:ext cx="5495040" cy="1769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21" name="TextBox 10"/>
            <p:cNvSpPr/>
            <p:nvPr/>
          </p:nvSpPr>
          <p:spPr>
            <a:xfrm>
              <a:off x="5861160" y="4072680"/>
              <a:ext cx="5608080" cy="6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18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Percentage Time Increase (%) with respect to Original Floorplan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2" name="Rectangle 7"/>
          <p:cNvSpPr/>
          <p:nvPr/>
        </p:nvSpPr>
        <p:spPr>
          <a:xfrm>
            <a:off x="6926760" y="4743360"/>
            <a:ext cx="1033560" cy="1720440"/>
          </a:xfrm>
          <a:prstGeom prst="rect">
            <a:avLst/>
          </a:prstGeom>
          <a:noFill/>
          <a:ln>
            <a:solidFill>
              <a:srgbClr val="00B0F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223" name="Group 6"/>
          <p:cNvGrpSpPr/>
          <p:nvPr/>
        </p:nvGrpSpPr>
        <p:grpSpPr>
          <a:xfrm>
            <a:off x="458280" y="4072680"/>
            <a:ext cx="5402160" cy="2445120"/>
            <a:chOff x="458280" y="4072680"/>
            <a:chExt cx="5402160" cy="2445120"/>
          </a:xfrm>
        </p:grpSpPr>
        <p:pic>
          <p:nvPicPr>
            <p:cNvPr id="224" name="Picture 4"/>
            <p:cNvPicPr/>
            <p:nvPr/>
          </p:nvPicPr>
          <p:blipFill>
            <a:blip r:embed="rId2"/>
            <a:stretch/>
          </p:blipFill>
          <p:spPr>
            <a:xfrm>
              <a:off x="458280" y="4683240"/>
              <a:ext cx="5291280" cy="1834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25" name="TextBox 33"/>
            <p:cNvSpPr/>
            <p:nvPr/>
          </p:nvSpPr>
          <p:spPr>
            <a:xfrm>
              <a:off x="458280" y="4072680"/>
              <a:ext cx="5402160" cy="6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18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Percentage Length Increase (%) with respect to Original Floorplan Conditioned on Approximation Mistakes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6" name="Rectangle 34"/>
          <p:cNvSpPr/>
          <p:nvPr/>
        </p:nvSpPr>
        <p:spPr>
          <a:xfrm rot="16200000">
            <a:off x="3175560" y="3082680"/>
            <a:ext cx="854280" cy="4176360"/>
          </a:xfrm>
          <a:prstGeom prst="rect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Rectangle 35"/>
          <p:cNvSpPr/>
          <p:nvPr/>
        </p:nvSpPr>
        <p:spPr>
          <a:xfrm>
            <a:off x="1538280" y="4767120"/>
            <a:ext cx="987840" cy="1674360"/>
          </a:xfrm>
          <a:prstGeom prst="rect">
            <a:avLst/>
          </a:prstGeom>
          <a:noFill/>
          <a:ln>
            <a:solidFill>
              <a:srgbClr val="00B0F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1" dur="indefinite" restart="never" nodeType="tmRoot">
          <p:childTnLst>
            <p:seq>
              <p:cTn id="182" dur="indefinite" nodeType="mainSeq">
                <p:childTnLst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87" dur="1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2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7"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02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05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609480" y="1224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Conclusion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3"/>
          <p:cNvSpPr/>
          <p:nvPr/>
        </p:nvSpPr>
        <p:spPr>
          <a:xfrm>
            <a:off x="496800" y="999720"/>
            <a:ext cx="1104876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MazeNet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builds a </a:t>
            </a:r>
            <a:r>
              <a:rPr lang="en-US" sz="2800" b="1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minimal-cost subgraph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guaranteeing an </a:t>
            </a:r>
            <a:r>
              <a:rPr lang="en-US" sz="2800" b="1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optimal shortest path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between all terminals.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4"/>
          <p:cNvSpPr/>
          <p:nvPr/>
        </p:nvSpPr>
        <p:spPr>
          <a:xfrm>
            <a:off x="496800" y="2112840"/>
            <a:ext cx="1090728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realistic yet controlled settings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MazeNet </a:t>
            </a: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Arial"/>
              </a:rPr>
              <a:t>matches approximation runtimes while preserving shortest paths.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5"/>
          <p:cNvSpPr/>
          <p:nvPr/>
        </p:nvSpPr>
        <p:spPr>
          <a:xfrm>
            <a:off x="496800" y="3225600"/>
            <a:ext cx="1090728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Speeds up path planning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as a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pre-filter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without compromising path length.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2" name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908160" y="4338720"/>
            <a:ext cx="4375440" cy="24357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2162012-20B2-4495-9A97-5A4D0B2EC70A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06" dur="indefinite" restart="never" nodeType="tmRoot">
          <p:childTnLst>
            <p:seq>
              <p:cTn id="207" dur="indefinite" nodeType="mainSeq">
                <p:childTnLst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1" dur="51000" fill="hold"/>
                                        <p:tgtEl>
                                          <p:spTgt spid="2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>
              <p:cMediaNode>
                <p:cTn>
                  <p:stCondLst>
                    <p:cond delay="indefinite"/>
                  </p:stCondLst>
                </p:cTn>
                <p:tgtEl>
                  <p:spTgt spid="232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609480" y="28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Future Work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3"/>
          <p:cNvSpPr/>
          <p:nvPr/>
        </p:nvSpPr>
        <p:spPr>
          <a:xfrm>
            <a:off x="416160" y="1145880"/>
            <a:ext cx="1104876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Extend to </a:t>
            </a: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Arial"/>
              </a:rPr>
              <a:t>larger mazes/floorplans and more terminals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to evaluate performance at scale.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4"/>
          <p:cNvSpPr/>
          <p:nvPr/>
        </p:nvSpPr>
        <p:spPr>
          <a:xfrm>
            <a:off x="416160" y="2195640"/>
            <a:ext cx="1074672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Explore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Graph Neural Network (GNN) approaches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and benchmark against MazeNet.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6"/>
          <p:cNvSpPr/>
          <p:nvPr/>
        </p:nvSpPr>
        <p:spPr>
          <a:xfrm>
            <a:off x="416160" y="4726080"/>
            <a:ext cx="7142760" cy="13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Extend the framework to support </a:t>
            </a:r>
            <a:r>
              <a:rPr lang="en-US" sz="2800" b="1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multi-agent systems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and/or </a:t>
            </a:r>
            <a:r>
              <a:rPr lang="en-US" sz="2800" b="1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dynamic path planning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scenarios.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7"/>
          <p:cNvSpPr/>
          <p:nvPr/>
        </p:nvSpPr>
        <p:spPr>
          <a:xfrm>
            <a:off x="416160" y="3245400"/>
            <a:ext cx="7142760" cy="13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Incorporate 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real-world robotic constraints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into the optimal shortest path computation.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8" name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685280" y="2968200"/>
            <a:ext cx="3124440" cy="31244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41CBBA6-B4F7-4749-A7F6-CDA29CE08657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2" dur="indefinite" restart="never" nodeType="tmRoot">
          <p:childTnLst>
            <p:seq>
              <p:cTn id="213" dur="indefinite" nodeType="mainSeq">
                <p:childTnLst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7" dur="23900" fill="hold"/>
                                        <p:tgtEl>
                                          <p:spTgt spid="2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>
              <p:cMediaNode>
                <p:cTn>
                  <p:stCondLst>
                    <p:cond delay="indefinite"/>
                  </p:stCondLst>
                </p:cTn>
                <p:tgtEl>
                  <p:spTgt spid="238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609480" y="28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Acknowledgments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Box 5"/>
          <p:cNvSpPr/>
          <p:nvPr/>
        </p:nvSpPr>
        <p:spPr>
          <a:xfrm>
            <a:off x="475920" y="1145880"/>
            <a:ext cx="11239920" cy="356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Thank you for your time and attention.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 gratefully acknowledge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Dr. Richard G. Baraniuk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(advisor),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Dr. Toros Arikan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(postdoctoral mentor), as well as my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family, friends, and girlfriend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for their unconditional support.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Special thanks to the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Applied Physics Program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and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ECE department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at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Rice University.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 welcome any questions.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1" name="Picture 8"/>
          <p:cNvPicPr/>
          <p:nvPr/>
        </p:nvPicPr>
        <p:blipFill>
          <a:blip r:embed="rId1"/>
          <a:stretch/>
        </p:blipFill>
        <p:spPr>
          <a:xfrm>
            <a:off x="9146880" y="4887720"/>
            <a:ext cx="1444320" cy="144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2" name="Picture 12"/>
          <p:cNvPicPr/>
          <p:nvPr/>
        </p:nvPicPr>
        <p:blipFill>
          <a:blip r:embed="rId2"/>
          <a:stretch/>
        </p:blipFill>
        <p:spPr>
          <a:xfrm>
            <a:off x="5231520" y="4898520"/>
            <a:ext cx="3170520" cy="1442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3" name="Picture 13"/>
          <p:cNvPicPr/>
          <p:nvPr/>
        </p:nvPicPr>
        <p:blipFill>
          <a:blip r:embed="rId3"/>
          <a:srcRect l="0" t="30067" r="0" b="26981"/>
          <a:stretch/>
        </p:blipFill>
        <p:spPr>
          <a:xfrm>
            <a:off x="535680" y="4948200"/>
            <a:ext cx="4345920" cy="139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D1D85538-4316-4656-AC81-F6A88AFBA36D}" type="slidenum">
              <a:t>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Backup Slides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C4C29E2-6FFF-4517-B997-8CC828774F15}" type="slidenum">
              <a:t>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Dijkstra's Exhaustive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46" name="Picture 2"/>
          <p:cNvPicPr/>
          <p:nvPr/>
        </p:nvPicPr>
        <p:blipFill>
          <a:blip r:embed="rId1"/>
          <a:stretch/>
        </p:blipFill>
        <p:spPr>
          <a:xfrm>
            <a:off x="6987600" y="1662840"/>
            <a:ext cx="4012200" cy="404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TextBox 4"/>
          <p:cNvSpPr/>
          <p:nvPr/>
        </p:nvSpPr>
        <p:spPr>
          <a:xfrm>
            <a:off x="8080200" y="5281200"/>
            <a:ext cx="285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5"/>
          <p:cNvSpPr/>
          <p:nvPr/>
        </p:nvSpPr>
        <p:spPr>
          <a:xfrm>
            <a:off x="8451720" y="3451320"/>
            <a:ext cx="285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6"/>
          <p:cNvSpPr/>
          <p:nvPr/>
        </p:nvSpPr>
        <p:spPr>
          <a:xfrm>
            <a:off x="10656720" y="4182840"/>
            <a:ext cx="285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7"/>
          <p:cNvSpPr/>
          <p:nvPr/>
        </p:nvSpPr>
        <p:spPr>
          <a:xfrm>
            <a:off x="476280" y="2472480"/>
            <a:ext cx="600984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1199"/>
              </a:spcAf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123</a:t>
            </a: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	</a:t>
            </a: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132</a:t>
            </a: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	</a:t>
            </a:r>
            <a:r>
              <a:rPr lang="en-US" sz="2800" b="0" u="none" strike="noStrike">
                <a:solidFill>
                  <a:srgbClr val="00B0F0"/>
                </a:solidFill>
                <a:effectLst/>
                <a:uFillTx/>
                <a:latin typeface="Arial"/>
              </a:rPr>
              <a:t>213  </a:t>
            </a:r>
            <a:r>
              <a:rPr lang="en-US" sz="2800" b="0" u="none" strike="noStrike">
                <a:solidFill>
                  <a:srgbClr val="00B0F0"/>
                </a:solidFill>
                <a:effectLst/>
                <a:uFillTx/>
                <a:latin typeface="Arial"/>
              </a:rPr>
              <a:t>	</a:t>
            </a:r>
            <a:r>
              <a:rPr lang="en-US" sz="2800" b="0" u="none" strike="noStrike">
                <a:solidFill>
                  <a:srgbClr val="00B0F0"/>
                </a:solidFill>
                <a:effectLst/>
                <a:uFillTx/>
                <a:latin typeface="Arial"/>
              </a:rPr>
              <a:t>231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en-US" sz="2800" b="0" u="none" strike="noStrike">
                <a:solidFill>
                  <a:srgbClr val="7030A0"/>
                </a:solidFill>
                <a:effectLst/>
                <a:uFillTx/>
                <a:latin typeface="Arial"/>
              </a:rPr>
              <a:t>321</a:t>
            </a:r>
            <a:r>
              <a:rPr lang="en-US" sz="2800" b="0" u="none" strike="noStrike">
                <a:solidFill>
                  <a:srgbClr val="7030A0"/>
                </a:solidFill>
                <a:effectLst/>
                <a:uFillTx/>
                <a:latin typeface="Arial"/>
              </a:rPr>
              <a:t>	</a:t>
            </a:r>
            <a:r>
              <a:rPr lang="en-US" sz="2800" b="0" u="none" strike="noStrike">
                <a:solidFill>
                  <a:srgbClr val="7030A0"/>
                </a:solidFill>
                <a:effectLst/>
                <a:uFillTx/>
                <a:latin typeface="Arial"/>
              </a:rPr>
              <a:t>312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8"/>
          <p:cNvSpPr/>
          <p:nvPr/>
        </p:nvSpPr>
        <p:spPr>
          <a:xfrm>
            <a:off x="366840" y="1360800"/>
            <a:ext cx="572904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457200" defTabSz="914400">
              <a:lnSpc>
                <a:spcPct val="100000"/>
              </a:lnSpc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Evaluates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all permutations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of terminal orderings.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9"/>
          <p:cNvSpPr/>
          <p:nvPr/>
        </p:nvSpPr>
        <p:spPr>
          <a:xfrm>
            <a:off x="366840" y="3211920"/>
            <a:ext cx="6171840" cy="13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457200" defTabSz="914400">
              <a:lnSpc>
                <a:spcPct val="100000"/>
              </a:lnSpc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Uses 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Dijkstra’s algorithm</a:t>
            </a: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to connect nodes sequentially for each permutation.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11"/>
          <p:cNvSpPr/>
          <p:nvPr/>
        </p:nvSpPr>
        <p:spPr>
          <a:xfrm>
            <a:off x="366840" y="4788720"/>
            <a:ext cx="6171840" cy="13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457200" defTabSz="914400">
              <a:lnSpc>
                <a:spcPct val="100000"/>
              </a:lnSpc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Tracks the </a:t>
            </a:r>
            <a:r>
              <a:rPr lang="en-US" sz="2800" b="1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shortest total path</a:t>
            </a:r>
            <a:r>
              <a:rPr lang="en-US" sz="28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across all permutations to find the optimal solution.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4" name="Picture 4"/>
          <p:cNvPicPr/>
          <p:nvPr/>
        </p:nvPicPr>
        <p:blipFill>
          <a:blip r:embed="rId2"/>
          <a:stretch/>
        </p:blipFill>
        <p:spPr>
          <a:xfrm>
            <a:off x="6919920" y="1662840"/>
            <a:ext cx="4176360" cy="417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3100E2C-FADB-438B-A939-F006F45023EC}" type="slidenum">
              <a:t>27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8" dur="indefinite" restart="never" nodeType="tmRoot">
          <p:childTnLst>
            <p:seq>
              <p:cTn id="219" dur="indefinite" nodeType="mainSeq">
                <p:childTnLst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24"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27" dur="1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30"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35"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8" dur="2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342720" y="3600"/>
            <a:ext cx="1150596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MazeNet Results on Synthetic Mazes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6" name="TextBox 7"/>
          <p:cNvSpPr/>
          <p:nvPr/>
        </p:nvSpPr>
        <p:spPr>
          <a:xfrm>
            <a:off x="305640" y="1106280"/>
            <a:ext cx="5790240" cy="437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FF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Competitive runtimes and scaling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are attained.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B050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State of the art accuracy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</a:t>
            </a: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Arial"/>
              </a:rPr>
              <a:t>small OARMST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problems.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Results are valid for mazes and indoor environments; 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not for general OARMST problems</a:t>
            </a:r>
            <a:r>
              <a:rPr lang="en-US" sz="26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5"/>
          <p:cNvSpPr/>
          <p:nvPr/>
        </p:nvSpPr>
        <p:spPr>
          <a:xfrm>
            <a:off x="3017160" y="5141520"/>
            <a:ext cx="2780280" cy="178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Accuracy (%) over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10,000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trials: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8" name="Picture 3" descr="A graph of different colored lines&#10;&#10;AI-generated content may be incorrect."/>
          <p:cNvPicPr/>
          <p:nvPr/>
        </p:nvPicPr>
        <p:blipFill>
          <a:blip r:embed="rId1"/>
          <a:stretch/>
        </p:blipFill>
        <p:spPr>
          <a:xfrm>
            <a:off x="6011640" y="875880"/>
            <a:ext cx="4765680" cy="377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PlaceHolder 2"/>
          <p:cNvSpPr>
            <a:spLocks noGrp="1"/>
          </p:cNvSpPr>
          <p:nvPr>
            <p:ph type="sldNum" idx="44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A8DB05-ED4E-4491-A3C5-DFB32D430F1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0" name="Picture 6"/>
          <p:cNvPicPr/>
          <p:nvPr/>
        </p:nvPicPr>
        <p:blipFill>
          <a:blip r:embed="rId2"/>
          <a:srcRect l="2002" t="0" r="0" b="0"/>
          <a:stretch/>
        </p:blipFill>
        <p:spPr>
          <a:xfrm>
            <a:off x="5638680" y="4646520"/>
            <a:ext cx="5651280" cy="2074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609480" y="28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Training and Fine Tuning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62" name="Picture 4" descr="A graph of a number of individuals&#10;&#10;AI-generated content may be incorrect."/>
          <p:cNvPicPr/>
          <p:nvPr/>
        </p:nvPicPr>
        <p:blipFill>
          <a:blip r:embed="rId1"/>
          <a:stretch/>
        </p:blipFill>
        <p:spPr>
          <a:xfrm>
            <a:off x="78840" y="1332000"/>
            <a:ext cx="3897720" cy="3122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3" name="Picture 6" descr="A graph of different colored lines&#10;&#10;AI-generated content may be incorrect."/>
          <p:cNvPicPr/>
          <p:nvPr/>
        </p:nvPicPr>
        <p:blipFill>
          <a:blip r:embed="rId2"/>
          <a:stretch/>
        </p:blipFill>
        <p:spPr>
          <a:xfrm>
            <a:off x="3976920" y="1340640"/>
            <a:ext cx="3897720" cy="312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" name="TextBox 9"/>
          <p:cNvSpPr/>
          <p:nvPr/>
        </p:nvSpPr>
        <p:spPr>
          <a:xfrm>
            <a:off x="912240" y="4644000"/>
            <a:ext cx="69624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Training for 20 epochs for synthetic mazes without TC during training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5" name="Picture 11" descr="A graph of different colored lines&#10;&#10;AI-generated content may be incorrect."/>
          <p:cNvPicPr/>
          <p:nvPr/>
        </p:nvPicPr>
        <p:blipFill>
          <a:blip r:embed="rId3"/>
          <a:stretch/>
        </p:blipFill>
        <p:spPr>
          <a:xfrm>
            <a:off x="7939080" y="1368000"/>
            <a:ext cx="3843720" cy="31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6" name="TextBox 12"/>
          <p:cNvSpPr/>
          <p:nvPr/>
        </p:nvSpPr>
        <p:spPr>
          <a:xfrm>
            <a:off x="8737560" y="4644000"/>
            <a:ext cx="26283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Fine tuning for 50 epochs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26BFA89-7EB9-4828-BCF9-265DB262936A}" type="slidenum">
              <a:t>29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609480" y="28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TC module algorithm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68" name="Picture 4"/>
          <p:cNvPicPr/>
          <p:nvPr/>
        </p:nvPicPr>
        <p:blipFill>
          <a:blip r:embed="rId1"/>
          <a:stretch/>
        </p:blipFill>
        <p:spPr>
          <a:xfrm>
            <a:off x="307800" y="937800"/>
            <a:ext cx="6671880" cy="585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9" name="Picture 6"/>
          <p:cNvPicPr/>
          <p:nvPr/>
        </p:nvPicPr>
        <p:blipFill>
          <a:blip r:embed="rId2"/>
          <a:srcRect l="0" t="0" r="50622" b="0"/>
          <a:stretch/>
        </p:blipFill>
        <p:spPr>
          <a:xfrm>
            <a:off x="7621560" y="1462680"/>
            <a:ext cx="3112200" cy="220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0" name="Picture 8"/>
          <p:cNvPicPr/>
          <p:nvPr/>
        </p:nvPicPr>
        <p:blipFill>
          <a:blip r:embed="rId3"/>
          <a:srcRect l="52599" t="0" r="0" b="0"/>
          <a:stretch/>
        </p:blipFill>
        <p:spPr>
          <a:xfrm>
            <a:off x="7575840" y="3660120"/>
            <a:ext cx="3219840" cy="237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CA231DB-CD6D-422A-ABF3-13E9D5406AE1}" type="slidenum">
              <a:t>30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609480" y="28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Visualization of RRT* with MazeNet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72" name="Picture 4" descr="A map of a maze&#10;&#10;AI-generated content may be incorrect."/>
          <p:cNvPicPr/>
          <p:nvPr/>
        </p:nvPicPr>
        <p:blipFill>
          <a:blip r:embed="rId1"/>
          <a:stretch/>
        </p:blipFill>
        <p:spPr>
          <a:xfrm>
            <a:off x="2683440" y="1078560"/>
            <a:ext cx="6618600" cy="3684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3" name="Picture 6" descr="A map of a route&#10;&#10;AI-generated content may be incorrect."/>
          <p:cNvPicPr/>
          <p:nvPr/>
        </p:nvPicPr>
        <p:blipFill>
          <a:blip r:embed="rId2"/>
          <a:stretch/>
        </p:blipFill>
        <p:spPr>
          <a:xfrm>
            <a:off x="2690640" y="1082520"/>
            <a:ext cx="6611400" cy="368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4" name="TextBox 13"/>
          <p:cNvSpPr/>
          <p:nvPr/>
        </p:nvSpPr>
        <p:spPr>
          <a:xfrm>
            <a:off x="609480" y="4971240"/>
            <a:ext cx="10766520" cy="13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Robotic path planning algorithms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(RRT*) </a:t>
            </a:r>
            <a:r>
              <a:rPr lang="en-US" sz="2800" b="1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run faster and get length reduction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when using our MazeNet-based front-end. 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Alternative filtering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methods result in 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longer paths.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79C85920-19D5-4266-8725-3CE1EFB791CF}" type="slidenum">
              <a:t>31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49" dur="indefinite" restart="never" nodeType="tmRoot">
          <p:childTnLst>
            <p:seq>
              <p:cTn id="250" dur="indefinite" nodeType="mainSeq">
                <p:childTnLst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55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496800" y="-360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Testing Visualization 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76" name="Picture 11" descr="A graph with numbers and lines&#10;&#10;AI-generated content may be incorrect."/>
          <p:cNvPicPr/>
          <p:nvPr/>
        </p:nvPicPr>
        <p:blipFill>
          <a:blip r:embed="rId1"/>
          <a:stretch/>
        </p:blipFill>
        <p:spPr>
          <a:xfrm>
            <a:off x="1019160" y="1213920"/>
            <a:ext cx="4697640" cy="417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7" name="Picture 14" descr="A graph with red and blue lines&#10;&#10;AI-generated content may be incorrect."/>
          <p:cNvPicPr/>
          <p:nvPr/>
        </p:nvPicPr>
        <p:blipFill>
          <a:blip r:embed="rId2"/>
          <a:stretch/>
        </p:blipFill>
        <p:spPr>
          <a:xfrm>
            <a:off x="6474600" y="1213920"/>
            <a:ext cx="4697640" cy="417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" name="TextBox 20"/>
          <p:cNvSpPr/>
          <p:nvPr/>
        </p:nvSpPr>
        <p:spPr>
          <a:xfrm>
            <a:off x="8508600" y="5425920"/>
            <a:ext cx="12445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Floorplans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21"/>
          <p:cNvSpPr/>
          <p:nvPr/>
        </p:nvSpPr>
        <p:spPr>
          <a:xfrm>
            <a:off x="2747520" y="5417280"/>
            <a:ext cx="16984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Mazes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C712DE7-1C50-4443-9A65-59273F412707}" type="slidenum">
              <a:t>32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Picture 8" descr="A red rectangle with black text&#10;&#10;AI-generated content may be incorrect."/>
          <p:cNvPicPr/>
          <p:nvPr/>
        </p:nvPicPr>
        <p:blipFill>
          <a:blip r:embed="rId1"/>
          <a:stretch/>
        </p:blipFill>
        <p:spPr>
          <a:xfrm>
            <a:off x="1777320" y="4714560"/>
            <a:ext cx="5483160" cy="102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609480" y="28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Detailed Description of MazeNet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82" name="Picture 4" descr="A diagram of a diagram&#10;&#10;AI-generated content may be incorrect."/>
          <p:cNvPicPr/>
          <p:nvPr/>
        </p:nvPicPr>
        <p:blipFill>
          <a:blip r:embed="rId2"/>
          <a:stretch/>
        </p:blipFill>
        <p:spPr>
          <a:xfrm>
            <a:off x="1874160" y="1340640"/>
            <a:ext cx="8627760" cy="368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385BEB44-717C-4093-BB78-B1A61C5A3821}" type="slidenum">
              <a:t>33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609480" y="-2196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Hyperparameters for Training/Fine tuning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84" name="Picture 4"/>
          <p:cNvPicPr/>
          <p:nvPr/>
        </p:nvPicPr>
        <p:blipFill>
          <a:blip r:embed="rId1"/>
          <a:stretch/>
        </p:blipFill>
        <p:spPr>
          <a:xfrm>
            <a:off x="3061440" y="1035720"/>
            <a:ext cx="6068880" cy="532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A0AF4CF-5209-4093-887E-676AD324FF48}" type="slidenum">
              <a:t>34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609480" y="28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Results on Floorplans – Extra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286" name="Group 14"/>
          <p:cNvGrpSpPr/>
          <p:nvPr/>
        </p:nvGrpSpPr>
        <p:grpSpPr>
          <a:xfrm>
            <a:off x="6178320" y="3966840"/>
            <a:ext cx="5322240" cy="2328840"/>
            <a:chOff x="6178320" y="3966840"/>
            <a:chExt cx="5322240" cy="2328840"/>
          </a:xfrm>
        </p:grpSpPr>
        <p:sp>
          <p:nvSpPr>
            <p:cNvPr id="287" name="TextBox 8"/>
            <p:cNvSpPr/>
            <p:nvPr/>
          </p:nvSpPr>
          <p:spPr>
            <a:xfrm>
              <a:off x="6178320" y="3966840"/>
              <a:ext cx="5322240" cy="6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18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Percentage Length Increase (%) with respect to Original Floorplan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88" name="Picture 11"/>
            <p:cNvPicPr/>
            <p:nvPr/>
          </p:nvPicPr>
          <p:blipFill>
            <a:blip r:embed="rId1"/>
            <a:srcRect l="1621" t="4965" r="1948" b="10411"/>
            <a:stretch/>
          </p:blipFill>
          <p:spPr>
            <a:xfrm>
              <a:off x="6494760" y="4593240"/>
              <a:ext cx="4651920" cy="17024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89" name="Group 17"/>
          <p:cNvGrpSpPr/>
          <p:nvPr/>
        </p:nvGrpSpPr>
        <p:grpSpPr>
          <a:xfrm>
            <a:off x="416520" y="4064040"/>
            <a:ext cx="5735880" cy="2327760"/>
            <a:chOff x="416520" y="4064040"/>
            <a:chExt cx="5735880" cy="2327760"/>
          </a:xfrm>
        </p:grpSpPr>
        <p:sp>
          <p:nvSpPr>
            <p:cNvPr id="290" name="TextBox 5"/>
            <p:cNvSpPr/>
            <p:nvPr/>
          </p:nvSpPr>
          <p:spPr>
            <a:xfrm>
              <a:off x="2085480" y="4064040"/>
              <a:ext cx="219528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Average Length in cm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91" name="Picture 16"/>
            <p:cNvPicPr/>
            <p:nvPr/>
          </p:nvPicPr>
          <p:blipFill>
            <a:blip r:embed="rId2"/>
            <a:stretch/>
          </p:blipFill>
          <p:spPr>
            <a:xfrm>
              <a:off x="416520" y="4556520"/>
              <a:ext cx="5735880" cy="18352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92" name="Group 15"/>
          <p:cNvGrpSpPr/>
          <p:nvPr/>
        </p:nvGrpSpPr>
        <p:grpSpPr>
          <a:xfrm>
            <a:off x="416520" y="1448280"/>
            <a:ext cx="5824080" cy="2211120"/>
            <a:chOff x="416520" y="1448280"/>
            <a:chExt cx="5824080" cy="2211120"/>
          </a:xfrm>
        </p:grpSpPr>
        <p:sp>
          <p:nvSpPr>
            <p:cNvPr id="293" name="TextBox 6"/>
            <p:cNvSpPr/>
            <p:nvPr/>
          </p:nvSpPr>
          <p:spPr>
            <a:xfrm>
              <a:off x="1925640" y="1448280"/>
              <a:ext cx="273672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Average Time in seconds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94" name="Picture 4"/>
            <p:cNvPicPr/>
            <p:nvPr/>
          </p:nvPicPr>
          <p:blipFill>
            <a:blip r:embed="rId3"/>
            <a:stretch/>
          </p:blipFill>
          <p:spPr>
            <a:xfrm>
              <a:off x="416520" y="1949040"/>
              <a:ext cx="5824080" cy="17103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95" name="Group 10"/>
          <p:cNvGrpSpPr/>
          <p:nvPr/>
        </p:nvGrpSpPr>
        <p:grpSpPr>
          <a:xfrm>
            <a:off x="5978160" y="1362960"/>
            <a:ext cx="5292720" cy="2346480"/>
            <a:chOff x="5978160" y="1362960"/>
            <a:chExt cx="5292720" cy="2346480"/>
          </a:xfrm>
        </p:grpSpPr>
        <p:sp>
          <p:nvSpPr>
            <p:cNvPr id="296" name="TextBox 3"/>
            <p:cNvSpPr/>
            <p:nvPr/>
          </p:nvSpPr>
          <p:spPr>
            <a:xfrm>
              <a:off x="5978160" y="1362960"/>
              <a:ext cx="5292720" cy="6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18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Percentage Time Increase (%) with respect to Original Floorplan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97" name="Picture 7"/>
            <p:cNvPicPr/>
            <p:nvPr/>
          </p:nvPicPr>
          <p:blipFill>
            <a:blip r:embed="rId4"/>
            <a:stretch/>
          </p:blipFill>
          <p:spPr>
            <a:xfrm>
              <a:off x="6347880" y="1955160"/>
              <a:ext cx="4814640" cy="17542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477B854A-8248-4D98-89BF-4B6099E7EA90}" type="slidenum">
              <a:t>35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609480" y="-612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Parallelization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99" name="Picture 4" descr="A diagram of a projector&#10;&#10;AI-generated content may be incorrect."/>
          <p:cNvPicPr/>
          <p:nvPr/>
        </p:nvPicPr>
        <p:blipFill>
          <a:blip r:embed="rId1"/>
          <a:stretch/>
        </p:blipFill>
        <p:spPr>
          <a:xfrm>
            <a:off x="1107360" y="1469160"/>
            <a:ext cx="10195560" cy="4092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0" name="Picture 6" descr="A graph with a line graph&#10;&#10;AI-generated content may be incorrect."/>
          <p:cNvPicPr/>
          <p:nvPr/>
        </p:nvPicPr>
        <p:blipFill>
          <a:blip r:embed="rId2"/>
          <a:stretch/>
        </p:blipFill>
        <p:spPr>
          <a:xfrm>
            <a:off x="2982960" y="1271160"/>
            <a:ext cx="5754240" cy="448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77DC9F9A-7D08-43C3-B67C-C164056CF8A0}" type="slidenum">
              <a:t>36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6" dur="indefinite" restart="never" nodeType="tmRoot">
          <p:childTnLst>
            <p:seq>
              <p:cTn id="257" dur="indefinite" nodeType="mainSeq">
                <p:childTnLst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0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 additive="repl">
                                        <p:cTn id="261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11230</TotalTime>
  <Application>LibreOffice/26.2.1.2$Linux_X86_64 LibreOffice_project/8399f6259d8c87f40e7255cdb3c9b958f5e08948</Application>
  <AppVersion>15.0000</AppVersion>
  <Words>2000</Words>
  <Paragraphs>234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2025-04-18T15:12:47Z</dcterms:created>
  <dc:creator>Gabriel Diaz</dc:creator>
  <dc:description/>
  <dc:language>en-US</dc:language>
  <cp:lastModifiedBy>Gabriel Díaz Ramos</cp:lastModifiedBy>
  <dcterms:modified xsi:type="dcterms:W3CDTF">2025-05-13T15:11:27Z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20</vt:i4>
  </property>
  <property fmtid="{D5CDD505-2E9C-101B-9397-08002B2CF9AE}" pid="4" name="PresentationFormat">
    <vt:lpwstr>Widescreen</vt:lpwstr>
  </property>
  <property fmtid="{D5CDD505-2E9C-101B-9397-08002B2CF9AE}" pid="5" name="Slides">
    <vt:i4>36</vt:i4>
  </property>
</Properties>
</file>